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3"/>
  </p:notesMasterIdLst>
  <p:handoutMasterIdLst>
    <p:handoutMasterId r:id="rId14"/>
  </p:handoutMasterIdLst>
  <p:sldIdLst>
    <p:sldId id="420" r:id="rId4"/>
    <p:sldId id="399" r:id="rId5"/>
    <p:sldId id="400" r:id="rId6"/>
    <p:sldId id="401" r:id="rId7"/>
    <p:sldId id="402" r:id="rId8"/>
    <p:sldId id="403" r:id="rId9"/>
    <p:sldId id="404" r:id="rId10"/>
    <p:sldId id="405" r:id="rId11"/>
    <p:sldId id="4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F303AE-3692-5362-C2A0-6679284C1E35}" v="547" dt="2026-04-29T18:27:43.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4/30/2026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6923-6AE0-638B-2585-FF0E01920C79}"/>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C4782261-D337-5865-5233-363567A657EF}"/>
              </a:ext>
            </a:extLst>
          </p:cNvPr>
          <p:cNvSpPr/>
          <p:nvPr/>
        </p:nvSpPr>
        <p:spPr>
          <a:xfrm>
            <a:off x="0" y="6053794"/>
            <a:ext cx="12192000" cy="4390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9871580-74A9-5202-7818-D719A351F60D}"/>
              </a:ext>
            </a:extLst>
          </p:cNvPr>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a:extLst>
              <a:ext uri="{FF2B5EF4-FFF2-40B4-BE49-F238E27FC236}">
                <a16:creationId xmlns:a16="http://schemas.microsoft.com/office/drawing/2014/main" id="{425F329B-ACA1-C8F7-8F79-6CE35ACDCA5F}"/>
              </a:ext>
            </a:extLst>
          </p:cNvPr>
          <p:cNvSpPr txBox="1">
            <a:spLocks/>
          </p:cNvSpPr>
          <p:nvPr/>
        </p:nvSpPr>
        <p:spPr>
          <a:xfrm>
            <a:off x="87630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Right Triangle 45">
            <a:extLst>
              <a:ext uri="{FF2B5EF4-FFF2-40B4-BE49-F238E27FC236}">
                <a16:creationId xmlns:a16="http://schemas.microsoft.com/office/drawing/2014/main" id="{4D58E6BB-F8A8-CB66-8AC8-60C79A4D0781}"/>
              </a:ext>
            </a:extLst>
          </p:cNvPr>
          <p:cNvSpPr/>
          <p:nvPr/>
        </p:nvSpPr>
        <p:spPr>
          <a:xfrm flipV="1">
            <a:off x="9506857" y="5700394"/>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BF777EC0-1829-196C-C6DE-B982C34669A8}"/>
              </a:ext>
            </a:extLst>
          </p:cNvPr>
          <p:cNvSpPr/>
          <p:nvPr/>
        </p:nvSpPr>
        <p:spPr>
          <a:xfrm flipH="1">
            <a:off x="7045437" y="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a:extLst>
              <a:ext uri="{FF2B5EF4-FFF2-40B4-BE49-F238E27FC236}">
                <a16:creationId xmlns:a16="http://schemas.microsoft.com/office/drawing/2014/main" id="{83728FA9-E4CF-55A3-3BCC-A8E6BB06AD27}"/>
              </a:ext>
            </a:extLst>
          </p:cNvPr>
          <p:cNvSpPr/>
          <p:nvPr/>
        </p:nvSpPr>
        <p:spPr>
          <a:xfrm>
            <a:off x="2260122" y="1474032"/>
            <a:ext cx="7246736" cy="2624726"/>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rgbClr val="000000"/>
                </a:solidFill>
              </a:rPr>
              <a:t>Submitted in the partial fulfillment for the award of the degree of</a:t>
            </a:r>
          </a:p>
          <a:p>
            <a:pPr algn="ctr"/>
            <a:r>
              <a:rPr lang="en-US" sz="2400" b="1" dirty="0">
                <a:solidFill>
                  <a:srgbClr val="000000"/>
                </a:solidFill>
              </a:rPr>
              <a:t>BACHELOR OF ENGINEERING </a:t>
            </a:r>
            <a:endParaRPr lang="en-US" sz="2400" dirty="0">
              <a:solidFill>
                <a:srgbClr val="000000"/>
              </a:solidFill>
            </a:endParaRPr>
          </a:p>
          <a:p>
            <a:pPr algn="ctr"/>
            <a:r>
              <a:rPr lang="en-US" sz="2400" i="1" dirty="0">
                <a:solidFill>
                  <a:srgbClr val="000000"/>
                </a:solidFill>
              </a:rPr>
              <a:t> IN</a:t>
            </a:r>
          </a:p>
          <a:p>
            <a:pPr algn="ctr"/>
            <a:r>
              <a:rPr lang="en-US" sz="2400" b="1" dirty="0">
                <a:solidFill>
                  <a:srgbClr val="000000"/>
                </a:solidFill>
              </a:rPr>
              <a:t>Computer Science Engineering </a:t>
            </a:r>
            <a:br>
              <a:rPr lang="en-US" sz="2400" b="1" dirty="0">
                <a:solidFill>
                  <a:srgbClr val="000000"/>
                </a:solidFill>
              </a:rPr>
            </a:br>
            <a:r>
              <a:rPr lang="en-US" sz="2400" b="1" dirty="0">
                <a:solidFill>
                  <a:srgbClr val="000000"/>
                </a:solidFill>
              </a:rPr>
              <a:t>Specialization in Information Security (IBM)</a:t>
            </a:r>
            <a:endParaRPr lang="en-US" sz="2400" dirty="0">
              <a:solidFill>
                <a:srgbClr val="000000"/>
              </a:solidFill>
            </a:endParaRPr>
          </a:p>
        </p:txBody>
      </p:sp>
      <p:sp>
        <p:nvSpPr>
          <p:cNvPr id="43" name="Right Triangle 42">
            <a:extLst>
              <a:ext uri="{FF2B5EF4-FFF2-40B4-BE49-F238E27FC236}">
                <a16:creationId xmlns:a16="http://schemas.microsoft.com/office/drawing/2014/main" id="{A5F61779-7840-E666-3A70-5111BE039E13}"/>
              </a:ext>
            </a:extLst>
          </p:cNvPr>
          <p:cNvSpPr/>
          <p:nvPr/>
        </p:nvSpPr>
        <p:spPr>
          <a:xfrm rot="10800000" flipV="1">
            <a:off x="9825377" y="52577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23F6CFC-A635-5D47-0341-C19786D405BB}"/>
              </a:ext>
            </a:extLst>
          </p:cNvPr>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a:solidFill>
                  <a:srgbClr val="C00000"/>
                </a:solidFill>
                <a:latin typeface="Casper" panose="02000506000000020004" pitchFamily="2" charset="0"/>
                <a:ea typeface="Karla" pitchFamily="2" charset="0"/>
                <a:cs typeface="Karla" pitchFamily="2" charset="0"/>
              </a:rPr>
              <a:t>LEARN</a:t>
            </a:r>
            <a:r>
              <a:rPr lang="en-US" sz="2000" b="1">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a:solidFill>
                <a:prstClr val="black"/>
              </a:solidFill>
              <a:latin typeface="Casper" panose="02000506000000020004" pitchFamily="2" charset="0"/>
            </a:endParaRPr>
          </a:p>
          <a:p>
            <a:pPr eaLnBrk="1" hangingPunct="1"/>
            <a:endParaRPr lang="en-US" sz="1600" b="1">
              <a:latin typeface="Casper" panose="02000506000000020004" pitchFamily="2" charset="0"/>
            </a:endParaRPr>
          </a:p>
        </p:txBody>
      </p:sp>
      <p:sp>
        <p:nvSpPr>
          <p:cNvPr id="52" name="Rectangle 51">
            <a:extLst>
              <a:ext uri="{FF2B5EF4-FFF2-40B4-BE49-F238E27FC236}">
                <a16:creationId xmlns:a16="http://schemas.microsoft.com/office/drawing/2014/main" id="{564707E6-E786-0F43-52A2-327A2853789B}"/>
              </a:ext>
            </a:extLst>
          </p:cNvPr>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9A3DC08-2530-37D2-FDE1-07A0494745EA}"/>
              </a:ext>
            </a:extLst>
          </p:cNvPr>
          <p:cNvSpPr txBox="1">
            <a:spLocks noChangeArrowheads="1"/>
          </p:cNvSpPr>
          <p:nvPr/>
        </p:nvSpPr>
        <p:spPr bwMode="auto">
          <a:xfrm>
            <a:off x="443345" y="6014156"/>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a:solidFill>
                  <a:srgbClr val="FF0000"/>
                </a:solidFill>
                <a:latin typeface="Times New Roman" pitchFamily="18" charset="0"/>
                <a:cs typeface="Times New Roman" pitchFamily="18" charset="0"/>
              </a:rPr>
              <a:t>Department of AIT-CSE</a:t>
            </a:r>
            <a:endParaRPr lang="en-US" sz="1600">
              <a:solidFill>
                <a:srgbClr val="FF0000"/>
              </a:solidFill>
              <a:latin typeface="Times New Roman" pitchFamily="18" charset="0"/>
              <a:cs typeface="Times New Roman" pitchFamily="18" charset="0"/>
            </a:endParaRPr>
          </a:p>
        </p:txBody>
      </p:sp>
      <p:sp>
        <p:nvSpPr>
          <p:cNvPr id="26" name="TextBox 25">
            <a:extLst>
              <a:ext uri="{FF2B5EF4-FFF2-40B4-BE49-F238E27FC236}">
                <a16:creationId xmlns:a16="http://schemas.microsoft.com/office/drawing/2014/main" id="{5A28F2CA-EE51-4336-A9D1-0044B63EC7C3}"/>
              </a:ext>
            </a:extLst>
          </p:cNvPr>
          <p:cNvSpPr txBox="1">
            <a:spLocks noChangeArrowheads="1"/>
          </p:cNvSpPr>
          <p:nvPr/>
        </p:nvSpPr>
        <p:spPr bwMode="auto">
          <a:xfrm>
            <a:off x="1264412" y="443734"/>
            <a:ext cx="9696662"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lnSpc>
                <a:spcPct val="90000"/>
              </a:lnSpc>
              <a:spcAft>
                <a:spcPct val="35000"/>
              </a:spcAft>
            </a:pPr>
            <a:r>
              <a:rPr lang="en-US" sz="3000" b="1">
                <a:latin typeface="Cambria" panose="02040503050406030204" pitchFamily="18" charset="0"/>
                <a:ea typeface="Cambria" panose="02040503050406030204" pitchFamily="18" charset="0"/>
              </a:rPr>
              <a:t>LLM-Driven Adaptive Authentication and Access Control in Zero Trust Systems Using Blockchain</a:t>
            </a:r>
          </a:p>
        </p:txBody>
      </p:sp>
      <p:sp>
        <p:nvSpPr>
          <p:cNvPr id="15" name="Slide Number Placeholder 14">
            <a:extLst>
              <a:ext uri="{FF2B5EF4-FFF2-40B4-BE49-F238E27FC236}">
                <a16:creationId xmlns:a16="http://schemas.microsoft.com/office/drawing/2014/main" id="{A849A0C6-0529-2EF4-B7A2-988DEEAE610C}"/>
              </a:ext>
            </a:extLst>
          </p:cNvPr>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a:extLst>
              <a:ext uri="{FF2B5EF4-FFF2-40B4-BE49-F238E27FC236}">
                <a16:creationId xmlns:a16="http://schemas.microsoft.com/office/drawing/2014/main" id="{018455CE-47A9-AF2C-B028-A0BBEC2E173E}"/>
              </a:ext>
            </a:extLst>
          </p:cNvPr>
          <p:cNvSpPr txBox="1"/>
          <p:nvPr/>
        </p:nvSpPr>
        <p:spPr>
          <a:xfrm>
            <a:off x="736115" y="4317759"/>
            <a:ext cx="4098568" cy="1323439"/>
          </a:xfrm>
          <a:prstGeom prst="rect">
            <a:avLst/>
          </a:prstGeom>
          <a:noFill/>
        </p:spPr>
        <p:txBody>
          <a:bodyPr wrap="square" rtlCol="0">
            <a:spAutoFit/>
          </a:bodyPr>
          <a:lstStyle/>
          <a:p>
            <a:r>
              <a:rPr lang="en-US" sz="2000" b="1" dirty="0"/>
              <a:t>Submitted by: </a:t>
            </a:r>
          </a:p>
          <a:p>
            <a:r>
              <a:rPr lang="en-US" sz="2000" dirty="0"/>
              <a:t>Parth Kansal - </a:t>
            </a:r>
            <a:r>
              <a:rPr lang="en-IN" sz="2000" dirty="0"/>
              <a:t>23BIS70035</a:t>
            </a:r>
            <a:br>
              <a:rPr lang="en-US" sz="2000" dirty="0"/>
            </a:br>
            <a:r>
              <a:rPr lang="en-US" sz="2000" dirty="0"/>
              <a:t>Anshul Sharma - </a:t>
            </a:r>
            <a:r>
              <a:rPr lang="en-IN" sz="2000" dirty="0"/>
              <a:t>23BIS70073</a:t>
            </a:r>
            <a:br>
              <a:rPr lang="en-US" sz="2000" dirty="0"/>
            </a:br>
            <a:r>
              <a:rPr lang="en-US" sz="2000" dirty="0"/>
              <a:t>Vireshwar Singh Tomar - </a:t>
            </a:r>
            <a:r>
              <a:rPr lang="en-IN" sz="2000" dirty="0"/>
              <a:t>23BIS70081</a:t>
            </a:r>
            <a:endParaRPr lang="en-US" sz="2000" dirty="0"/>
          </a:p>
        </p:txBody>
      </p:sp>
      <p:sp>
        <p:nvSpPr>
          <p:cNvPr id="6" name="TextBox 5">
            <a:extLst>
              <a:ext uri="{FF2B5EF4-FFF2-40B4-BE49-F238E27FC236}">
                <a16:creationId xmlns:a16="http://schemas.microsoft.com/office/drawing/2014/main" id="{FEC5F573-C18A-B0FF-BFA1-F75FDC47F3AE}"/>
              </a:ext>
            </a:extLst>
          </p:cNvPr>
          <p:cNvSpPr txBox="1"/>
          <p:nvPr/>
        </p:nvSpPr>
        <p:spPr>
          <a:xfrm>
            <a:off x="8041782" y="4271593"/>
            <a:ext cx="2971326" cy="707886"/>
          </a:xfrm>
          <a:prstGeom prst="rect">
            <a:avLst/>
          </a:prstGeom>
          <a:noFill/>
        </p:spPr>
        <p:txBody>
          <a:bodyPr wrap="none" rtlCol="0">
            <a:spAutoFit/>
          </a:bodyPr>
          <a:lstStyle/>
          <a:p>
            <a:r>
              <a:rPr lang="en-US" sz="2000" b="1" dirty="0"/>
              <a:t>Under the Supervision of: </a:t>
            </a:r>
            <a:endParaRPr lang="en-US" sz="2000" dirty="0"/>
          </a:p>
          <a:p>
            <a:r>
              <a:rPr lang="en-US" sz="2000" dirty="0"/>
              <a:t>Ms. Sidrah Fayaz Wani</a:t>
            </a:r>
          </a:p>
        </p:txBody>
      </p:sp>
    </p:spTree>
    <p:extLst>
      <p:ext uri="{BB962C8B-B14F-4D97-AF65-F5344CB8AC3E}">
        <p14:creationId xmlns:p14="http://schemas.microsoft.com/office/powerpoint/2010/main" val="2871233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a:t>Table Of Content</a:t>
            </a:r>
            <a:endParaRPr lang="en-US" b="1">
              <a:latin typeface="Times New Roman"/>
              <a:cs typeface="Times New Roman"/>
            </a:endParaRPr>
          </a:p>
        </p:txBody>
      </p:sp>
      <p:sp>
        <p:nvSpPr>
          <p:cNvPr id="3" name="Content Placeholder 2"/>
          <p:cNvSpPr>
            <a:spLocks noGrp="1"/>
          </p:cNvSpPr>
          <p:nvPr>
            <p:ph idx="1"/>
          </p:nvPr>
        </p:nvSpPr>
        <p:spPr>
          <a:xfrm>
            <a:off x="838200" y="1588220"/>
            <a:ext cx="10515600" cy="4952253"/>
          </a:xfrm>
        </p:spPr>
        <p:txBody>
          <a:bodyPr vert="horz" lIns="91440" tIns="45720" rIns="91440" bIns="45720" rtlCol="0" anchor="t">
            <a:normAutofit/>
          </a:bodyPr>
          <a:lstStyle/>
          <a:p>
            <a:r>
              <a:rPr lang="en-US"/>
              <a:t>Feasibility.</a:t>
            </a:r>
          </a:p>
          <a:p>
            <a:r>
              <a:rPr lang="en-US"/>
              <a:t>Features / Characteristics of the proposed solution.</a:t>
            </a:r>
            <a:endParaRPr lang="en-US">
              <a:ea typeface="Calibri"/>
              <a:cs typeface="Calibri"/>
            </a:endParaRPr>
          </a:p>
          <a:p>
            <a:r>
              <a:rPr lang="en-US"/>
              <a:t>Identification of constraints.</a:t>
            </a:r>
            <a:endParaRPr lang="en-US">
              <a:ea typeface="Calibri"/>
              <a:cs typeface="Calibri"/>
            </a:endParaRPr>
          </a:p>
          <a:p>
            <a:r>
              <a:rPr lang="en-US"/>
              <a:t>Analysis of features and finalization subject to constraints.</a:t>
            </a:r>
            <a:endParaRPr lang="en-US">
              <a:ea typeface="Calibri"/>
              <a:cs typeface="Calibri"/>
            </a:endParaRPr>
          </a:p>
          <a:p>
            <a:r>
              <a:rPr lang="en-US"/>
              <a:t>Identification of appropriate standards.</a:t>
            </a:r>
          </a:p>
          <a:p>
            <a:r>
              <a:rPr lang="en-US"/>
              <a:t>Design Constraints.</a:t>
            </a:r>
            <a:endParaRPr lang="en-US">
              <a:ea typeface="Calibri"/>
              <a:cs typeface="Calibri"/>
            </a:endParaRPr>
          </a:p>
          <a:p>
            <a:endParaRPr lang="en-US"/>
          </a:p>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Feasibility</a:t>
            </a:r>
          </a:p>
        </p:txBody>
      </p:sp>
      <p:sp>
        <p:nvSpPr>
          <p:cNvPr id="3" name="Content Placeholder 2"/>
          <p:cNvSpPr>
            <a:spLocks noGrp="1"/>
          </p:cNvSpPr>
          <p:nvPr>
            <p:ph idx="1"/>
          </p:nvPr>
        </p:nvSpPr>
        <p:spPr/>
        <p:txBody>
          <a:bodyPr>
            <a:normAutofit/>
          </a:bodyPr>
          <a:lstStyle/>
          <a:p>
            <a:r>
              <a:rPr lang="en-IN" sz="2000"/>
              <a:t>The implementation of the proposed system is carried out in multiple phases, ensuring modular development, scalability, and ease of integration. Each phase utilizes specific tools and technologies to achieve its objectives efficiently.</a:t>
            </a:r>
          </a:p>
          <a:p>
            <a:r>
              <a:rPr lang="en-US" sz="2000" b="1"/>
              <a:t>Phase 1:</a:t>
            </a:r>
            <a:r>
              <a:rPr lang="en-US" sz="2000"/>
              <a:t> Basic IAM System Development.</a:t>
            </a:r>
          </a:p>
          <a:p>
            <a:r>
              <a:rPr lang="en-US" sz="2000" b="1"/>
              <a:t>Phase 2: </a:t>
            </a:r>
            <a:r>
              <a:rPr lang="en-US" sz="2000"/>
              <a:t>Machine Learning Model Integration.</a:t>
            </a:r>
          </a:p>
          <a:p>
            <a:r>
              <a:rPr lang="en-US" sz="2000" b="1"/>
              <a:t>Phase 3: </a:t>
            </a:r>
            <a:r>
              <a:rPr lang="en-US" sz="2000"/>
              <a:t>Blockchain Integration.</a:t>
            </a:r>
          </a:p>
          <a:p>
            <a:r>
              <a:rPr lang="en-US" sz="2000" b="1"/>
              <a:t>Phase 4: </a:t>
            </a:r>
            <a:r>
              <a:rPr lang="en-US" sz="2000"/>
              <a:t>Voting System Development.</a:t>
            </a:r>
          </a:p>
          <a:p>
            <a:r>
              <a:rPr lang="en-US" sz="2000" b="1"/>
              <a:t>Phase 5: </a:t>
            </a:r>
            <a:r>
              <a:rPr lang="en-US" sz="2000"/>
              <a:t>AI-Based Request Validation.</a:t>
            </a:r>
          </a:p>
          <a:p>
            <a:r>
              <a:rPr lang="en-US" sz="2000" b="1"/>
              <a:t>Phase 6: </a:t>
            </a:r>
            <a:r>
              <a:rPr lang="en-US" sz="2000"/>
              <a:t>System Integration and Testing.</a:t>
            </a:r>
          </a:p>
          <a:p>
            <a:pPr marL="0" indent="0">
              <a:buNone/>
            </a:pPr>
            <a:endParaRPr lang="en-US" sz="2000"/>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Feasibility</a:t>
            </a:r>
          </a:p>
        </p:txBody>
      </p:sp>
      <p:graphicFrame>
        <p:nvGraphicFramePr>
          <p:cNvPr id="6" name="Content Placeholder 5">
            <a:extLst>
              <a:ext uri="{FF2B5EF4-FFF2-40B4-BE49-F238E27FC236}">
                <a16:creationId xmlns:a16="http://schemas.microsoft.com/office/drawing/2014/main" id="{FAB0CEB1-D036-68DD-11C7-683B99AA8B4C}"/>
              </a:ext>
            </a:extLst>
          </p:cNvPr>
          <p:cNvGraphicFramePr>
            <a:graphicFrameLocks noGrp="1"/>
          </p:cNvGraphicFramePr>
          <p:nvPr>
            <p:ph idx="1"/>
            <p:extLst>
              <p:ext uri="{D42A27DB-BD31-4B8C-83A1-F6EECF244321}">
                <p14:modId xmlns:p14="http://schemas.microsoft.com/office/powerpoint/2010/main" val="2134881083"/>
              </p:ext>
            </p:extLst>
          </p:nvPr>
        </p:nvGraphicFramePr>
        <p:xfrm>
          <a:off x="422693" y="1535502"/>
          <a:ext cx="11404122" cy="5029200"/>
        </p:xfrm>
        <a:graphic>
          <a:graphicData uri="http://schemas.openxmlformats.org/drawingml/2006/table">
            <a:tbl>
              <a:tblPr firstRow="1" bandRow="1">
                <a:tableStyleId>{5C22544A-7EE6-4342-B048-85BDC9FD1C3A}</a:tableStyleId>
              </a:tblPr>
              <a:tblGrid>
                <a:gridCol w="1900687">
                  <a:extLst>
                    <a:ext uri="{9D8B030D-6E8A-4147-A177-3AD203B41FA5}">
                      <a16:colId xmlns:a16="http://schemas.microsoft.com/office/drawing/2014/main" val="3539350576"/>
                    </a:ext>
                  </a:extLst>
                </a:gridCol>
                <a:gridCol w="1900687">
                  <a:extLst>
                    <a:ext uri="{9D8B030D-6E8A-4147-A177-3AD203B41FA5}">
                      <a16:colId xmlns:a16="http://schemas.microsoft.com/office/drawing/2014/main" val="2607075198"/>
                    </a:ext>
                  </a:extLst>
                </a:gridCol>
                <a:gridCol w="1900687">
                  <a:extLst>
                    <a:ext uri="{9D8B030D-6E8A-4147-A177-3AD203B41FA5}">
                      <a16:colId xmlns:a16="http://schemas.microsoft.com/office/drawing/2014/main" val="3511097818"/>
                    </a:ext>
                  </a:extLst>
                </a:gridCol>
                <a:gridCol w="1900687">
                  <a:extLst>
                    <a:ext uri="{9D8B030D-6E8A-4147-A177-3AD203B41FA5}">
                      <a16:colId xmlns:a16="http://schemas.microsoft.com/office/drawing/2014/main" val="638575983"/>
                    </a:ext>
                  </a:extLst>
                </a:gridCol>
                <a:gridCol w="1900687">
                  <a:extLst>
                    <a:ext uri="{9D8B030D-6E8A-4147-A177-3AD203B41FA5}">
                      <a16:colId xmlns:a16="http://schemas.microsoft.com/office/drawing/2014/main" val="1493499078"/>
                    </a:ext>
                  </a:extLst>
                </a:gridCol>
                <a:gridCol w="1900687">
                  <a:extLst>
                    <a:ext uri="{9D8B030D-6E8A-4147-A177-3AD203B41FA5}">
                      <a16:colId xmlns:a16="http://schemas.microsoft.com/office/drawing/2014/main" val="2321848514"/>
                    </a:ext>
                  </a:extLst>
                </a:gridCol>
              </a:tblGrid>
              <a:tr h="1306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Basic IAM System Development.</a:t>
                      </a:r>
                    </a:p>
                    <a:p>
                      <a:pPr algn="ctr"/>
                      <a:endParaRPr lang="en-IN"/>
                    </a:p>
                  </a:txBody>
                  <a:tcPr/>
                </a:tc>
                <a:tc>
                  <a:txBody>
                    <a:bodyPr/>
                    <a:lstStyle/>
                    <a:p>
                      <a:pPr algn="ctr"/>
                      <a:r>
                        <a:rPr lang="en-US" sz="1800"/>
                        <a:t>Machine Learning Model Integration</a:t>
                      </a: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Blockchain Integration.</a:t>
                      </a:r>
                    </a:p>
                    <a:p>
                      <a:pPr algn="ct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Voting System Development.</a:t>
                      </a:r>
                    </a:p>
                    <a:p>
                      <a:pPr algn="ct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AI-Based Request Validation.</a:t>
                      </a:r>
                    </a:p>
                    <a:p>
                      <a:pPr algn="ct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System Integration and Testing.</a:t>
                      </a:r>
                    </a:p>
                    <a:p>
                      <a:pPr algn="ctr"/>
                      <a:endParaRPr lang="en-IN"/>
                    </a:p>
                  </a:txBody>
                  <a:tcPr/>
                </a:tc>
                <a:extLst>
                  <a:ext uri="{0D108BD9-81ED-4DB2-BD59-A6C34878D82A}">
                    <a16:rowId xmlns:a16="http://schemas.microsoft.com/office/drawing/2014/main" val="2862980686"/>
                  </a:ext>
                </a:extLst>
              </a:tr>
              <a:tr h="2255262">
                <a:tc>
                  <a:txBody>
                    <a:bodyPr/>
                    <a:lstStyle/>
                    <a:p>
                      <a:pPr marL="171450" indent="-171450">
                        <a:buFont typeface="Arial" panose="020B0604020202020204" pitchFamily="34" charset="0"/>
                        <a:buChar char="•"/>
                      </a:pPr>
                      <a:r>
                        <a:rPr lang="en-IN" sz="1200" kern="1200">
                          <a:solidFill>
                            <a:schemeClr val="dk1"/>
                          </a:solidFill>
                          <a:effectLst/>
                          <a:latin typeface="+mn-lt"/>
                          <a:ea typeface="+mn-ea"/>
                          <a:cs typeface="+mn-cs"/>
                        </a:rPr>
                        <a:t>Implementing user authentication, session management, and secure storage of user credentials.</a:t>
                      </a:r>
                    </a:p>
                    <a:p>
                      <a:pPr marL="171450" indent="-171450">
                        <a:buFont typeface="Arial" panose="020B0604020202020204" pitchFamily="34" charset="0"/>
                        <a:buChar char="•"/>
                      </a:pPr>
                      <a:r>
                        <a:rPr lang="en-US" sz="1200"/>
                        <a:t>The backend is developed using Flask (Python) to create RESTful APIs.</a:t>
                      </a:r>
                    </a:p>
                    <a:p>
                      <a:pPr marL="171450" indent="-171450">
                        <a:buFont typeface="Arial" panose="020B0604020202020204" pitchFamily="34" charset="0"/>
                        <a:buChar char="•"/>
                      </a:pPr>
                      <a:r>
                        <a:rPr lang="en-US" sz="1200"/>
                        <a:t>Secure authentication is implemented using password Hashing and JWT-Based Session Management</a:t>
                      </a:r>
                    </a:p>
                    <a:p>
                      <a:pPr marL="171450" indent="-171450">
                        <a:buFont typeface="Arial" panose="020B0604020202020204" pitchFamily="34" charset="0"/>
                        <a:buChar char="•"/>
                      </a:pPr>
                      <a:r>
                        <a:rPr lang="en-US" sz="1200"/>
                        <a:t>API Design and Endpoints</a:t>
                      </a:r>
                    </a:p>
                    <a:p>
                      <a:pPr marL="171450" indent="-171450">
                        <a:buFont typeface="Arial" panose="020B0604020202020204" pitchFamily="34" charset="0"/>
                        <a:buChar char="•"/>
                      </a:pPr>
                      <a:r>
                        <a:rPr lang="en-IN" sz="1200"/>
                        <a:t>Database Design (MongoDB):</a:t>
                      </a:r>
                    </a:p>
                  </a:txBody>
                  <a:tcPr/>
                </a:tc>
                <a:tc>
                  <a:txBody>
                    <a:bodyPr/>
                    <a:lstStyle/>
                    <a:p>
                      <a:pPr marL="171450" indent="-171450" algn="l">
                        <a:buFont typeface="Arial" panose="020B0604020202020204" pitchFamily="34" charset="0"/>
                        <a:buChar char="•"/>
                      </a:pPr>
                      <a:r>
                        <a:rPr lang="en-US" sz="1200"/>
                        <a:t>Enhance the authentication system by introducing an intelligent risk-based decision mechanism.</a:t>
                      </a:r>
                    </a:p>
                    <a:p>
                      <a:pPr marL="171450" indent="-171450" algn="l">
                        <a:buFont typeface="Arial" panose="020B0604020202020204" pitchFamily="34" charset="0"/>
                        <a:buChar char="•"/>
                      </a:pPr>
                      <a:r>
                        <a:rPr lang="en-US" sz="1200"/>
                        <a:t>This enables detection of suspicious login attempts, anomalous user </a:t>
                      </a:r>
                      <a:r>
                        <a:rPr lang="en-US" sz="1200" err="1"/>
                        <a:t>behaviour</a:t>
                      </a:r>
                      <a:r>
                        <a:rPr lang="en-US" sz="1200"/>
                        <a:t> and potential credential compromise.</a:t>
                      </a:r>
                    </a:p>
                    <a:p>
                      <a:pPr marL="171450" indent="-171450" algn="l">
                        <a:buFont typeface="Arial" panose="020B0604020202020204" pitchFamily="34" charset="0"/>
                        <a:buChar char="•"/>
                      </a:pPr>
                      <a:r>
                        <a:rPr lang="en-US" sz="1200"/>
                        <a:t>Instead of just classification, the model outputs a probability score.</a:t>
                      </a:r>
                    </a:p>
                    <a:p>
                      <a:pPr marL="171450" indent="-171450" algn="l">
                        <a:buFont typeface="Arial" panose="020B0604020202020204" pitchFamily="34" charset="0"/>
                        <a:buChar char="•"/>
                      </a:pPr>
                      <a:r>
                        <a:rPr lang="en-US" sz="1200"/>
                        <a:t>The trained model is integrated into the authentication backend</a:t>
                      </a:r>
                    </a:p>
                    <a:p>
                      <a:pPr marL="171450" indent="-171450" algn="l">
                        <a:buFont typeface="Arial" panose="020B0604020202020204" pitchFamily="34" charset="0"/>
                        <a:buChar char="•"/>
                      </a:pPr>
                      <a:endParaRPr lang="en-IN" sz="1200"/>
                    </a:p>
                  </a:txBody>
                  <a:tcPr/>
                </a:tc>
                <a:tc>
                  <a:txBody>
                    <a:bodyPr/>
                    <a:lstStyle/>
                    <a:p>
                      <a:pPr marL="171450" indent="-171450">
                        <a:buFont typeface="Arial" panose="020B0604020202020204" pitchFamily="34" charset="0"/>
                        <a:buChar char="•"/>
                      </a:pPr>
                      <a:r>
                        <a:rPr lang="en-US" sz="1200"/>
                        <a:t>Implement a secure and tamper-proof logging mechanism for all authentication and authorization events.</a:t>
                      </a:r>
                    </a:p>
                    <a:p>
                      <a:pPr marL="171450" indent="-171450">
                        <a:buFont typeface="Arial" panose="020B0604020202020204" pitchFamily="34" charset="0"/>
                        <a:buChar char="•"/>
                      </a:pPr>
                      <a:r>
                        <a:rPr lang="en-US" sz="1200"/>
                        <a:t>The system records all critical activities each event is structured with important details.</a:t>
                      </a:r>
                    </a:p>
                    <a:p>
                      <a:pPr marL="171450" indent="-171450">
                        <a:buFont typeface="Arial" panose="020B0604020202020204" pitchFamily="34" charset="0"/>
                        <a:buChar char="•"/>
                      </a:pPr>
                      <a:r>
                        <a:rPr lang="en-US" sz="1200"/>
                        <a:t>The blocks are stored in a private blockchain network, which restricts access to authorized users only. </a:t>
                      </a:r>
                    </a:p>
                    <a:p>
                      <a:pPr marL="171450" indent="-171450">
                        <a:buFont typeface="Arial" panose="020B0604020202020204" pitchFamily="34" charset="0"/>
                        <a:buChar char="•"/>
                      </a:pPr>
                      <a:r>
                        <a:rPr lang="en-US" sz="1200"/>
                        <a:t>The system includes a verification mechanism that recalculates hashes and checks block linkage</a:t>
                      </a:r>
                    </a:p>
                    <a:p>
                      <a:pPr marL="171450" indent="-171450">
                        <a:buFont typeface="Arial" panose="020B0604020202020204" pitchFamily="34" charset="0"/>
                        <a:buChar char="•"/>
                      </a:pPr>
                      <a:endParaRPr lang="en-IN" sz="1200"/>
                    </a:p>
                  </a:txBody>
                  <a:tcPr/>
                </a:tc>
                <a:tc>
                  <a:txBody>
                    <a:bodyPr/>
                    <a:lstStyle/>
                    <a:p>
                      <a:pPr marL="171450" indent="-171450">
                        <a:buFont typeface="Arial" panose="020B0604020202020204" pitchFamily="34" charset="0"/>
                        <a:buChar char="•"/>
                      </a:pPr>
                      <a:r>
                        <a:rPr lang="en-US" sz="1200"/>
                        <a:t>Introduce a human-in-the-loop validation mechanism for handling uncertain or high-risk access requests. </a:t>
                      </a:r>
                    </a:p>
                    <a:p>
                      <a:pPr marL="171450" indent="-171450">
                        <a:buFont typeface="Arial" panose="020B0604020202020204" pitchFamily="34" charset="0"/>
                        <a:buChar char="•"/>
                      </a:pPr>
                      <a:r>
                        <a:rPr lang="en-US" sz="1200"/>
                        <a:t>When the system detects a medium or high-risk request, it automatically triggers the voting process.</a:t>
                      </a:r>
                    </a:p>
                    <a:p>
                      <a:pPr marL="171450" indent="-171450">
                        <a:buFont typeface="Arial" panose="020B0604020202020204" pitchFamily="34" charset="0"/>
                        <a:buChar char="•"/>
                      </a:pPr>
                      <a:r>
                        <a:rPr lang="en-US" sz="1200"/>
                        <a:t>Only authorized users such as admins or trusted reviewers are allowed to participate in voting.</a:t>
                      </a:r>
                    </a:p>
                    <a:p>
                      <a:pPr marL="171450" indent="-171450">
                        <a:buFont typeface="Arial" panose="020B0604020202020204" pitchFamily="34" charset="0"/>
                        <a:buChar char="•"/>
                      </a:pPr>
                      <a:r>
                        <a:rPr lang="en-US" sz="1200"/>
                        <a:t>Reviewers submit their decisions (approve/reject) through APIs or a dashboard interface. </a:t>
                      </a:r>
                      <a:endParaRPr lang="en-IN" sz="1200"/>
                    </a:p>
                  </a:txBody>
                  <a:tcPr/>
                </a:tc>
                <a:tc>
                  <a:txBody>
                    <a:bodyPr/>
                    <a:lstStyle/>
                    <a:p>
                      <a:pPr marL="171450" indent="-171450">
                        <a:buFont typeface="Arial" panose="020B0604020202020204" pitchFamily="34" charset="0"/>
                        <a:buChar char="•"/>
                      </a:pPr>
                      <a:r>
                        <a:rPr lang="en-US" sz="1200"/>
                        <a:t>Validate the user-provided reasons when requesting access to sensitive resources.</a:t>
                      </a:r>
                    </a:p>
                    <a:p>
                      <a:pPr marL="171450" indent="-171450">
                        <a:buFont typeface="Arial" panose="020B0604020202020204" pitchFamily="34" charset="0"/>
                        <a:buChar char="•"/>
                      </a:pPr>
                      <a:r>
                        <a:rPr lang="en-US" sz="1200"/>
                        <a:t>The human input is processed using Natural Language Processing (NLP) techniques such as tokenization, </a:t>
                      </a:r>
                      <a:r>
                        <a:rPr lang="en-US" sz="1200" err="1"/>
                        <a:t>stopword</a:t>
                      </a:r>
                      <a:r>
                        <a:rPr lang="en-US" sz="1200"/>
                        <a:t> removal, and text normalization.</a:t>
                      </a:r>
                    </a:p>
                    <a:p>
                      <a:pPr marL="171450" indent="-171450">
                        <a:buFont typeface="Arial" panose="020B0604020202020204" pitchFamily="34" charset="0"/>
                        <a:buChar char="•"/>
                      </a:pPr>
                      <a:r>
                        <a:rPr lang="en-US" sz="1200"/>
                        <a:t>By incorporating AI-based validation, the system ensures context-aware authorization, improving both security and decision accuracy. </a:t>
                      </a:r>
                      <a:endParaRPr lang="en-IN" sz="1200"/>
                    </a:p>
                  </a:txBody>
                  <a:tcPr/>
                </a:tc>
                <a:tc>
                  <a:txBody>
                    <a:bodyPr/>
                    <a:lstStyle/>
                    <a:p>
                      <a:pPr marL="171450" indent="-171450">
                        <a:buFont typeface="Arial" panose="020B0604020202020204" pitchFamily="34" charset="0"/>
                        <a:buChar char="•"/>
                      </a:pPr>
                      <a:r>
                        <a:rPr lang="en-US" sz="1200"/>
                        <a:t>The objective of this phase is to integrate all previously developed modules into a single, unified system and ensure smooth end-to-end functionality. </a:t>
                      </a:r>
                    </a:p>
                    <a:p>
                      <a:pPr marL="171450" indent="-171450">
                        <a:buFont typeface="Arial" panose="020B0604020202020204" pitchFamily="34" charset="0"/>
                        <a:buChar char="•"/>
                      </a:pPr>
                      <a:r>
                        <a:rPr lang="en-US" sz="1200"/>
                        <a:t>This includes combining machine learning, blockchain logging, AI-based validation, and the voting system into a cohesive workflow. </a:t>
                      </a:r>
                    </a:p>
                    <a:p>
                      <a:pPr marL="171450" indent="-171450">
                        <a:buFont typeface="Arial" panose="020B0604020202020204" pitchFamily="34" charset="0"/>
                        <a:buChar char="•"/>
                      </a:pPr>
                      <a:r>
                        <a:rPr lang="en-US" sz="1200"/>
                        <a:t>The goal is to verify that all components work together seamlessly to deliver a secure, intelligent, and reliable authentication system. </a:t>
                      </a:r>
                    </a:p>
                    <a:p>
                      <a:endParaRPr lang="en-IN"/>
                    </a:p>
                  </a:txBody>
                  <a:tcPr/>
                </a:tc>
                <a:extLst>
                  <a:ext uri="{0D108BD9-81ED-4DB2-BD59-A6C34878D82A}">
                    <a16:rowId xmlns:a16="http://schemas.microsoft.com/office/drawing/2014/main" val="2094438781"/>
                  </a:ext>
                </a:extLst>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409303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Features / Characteristics of the proposed solution</a:t>
            </a:r>
          </a:p>
        </p:txBody>
      </p:sp>
      <p:graphicFrame>
        <p:nvGraphicFramePr>
          <p:cNvPr id="5" name="Content Placeholder 4">
            <a:extLst>
              <a:ext uri="{FF2B5EF4-FFF2-40B4-BE49-F238E27FC236}">
                <a16:creationId xmlns:a16="http://schemas.microsoft.com/office/drawing/2014/main" id="{54DBA73E-4742-986C-631E-E3C501B6F394}"/>
              </a:ext>
            </a:extLst>
          </p:cNvPr>
          <p:cNvGraphicFramePr>
            <a:graphicFrameLocks noGrp="1"/>
          </p:cNvGraphicFramePr>
          <p:nvPr>
            <p:ph idx="1"/>
            <p:extLst>
              <p:ext uri="{D42A27DB-BD31-4B8C-83A1-F6EECF244321}">
                <p14:modId xmlns:p14="http://schemas.microsoft.com/office/powerpoint/2010/main" val="1405074513"/>
              </p:ext>
            </p:extLst>
          </p:nvPr>
        </p:nvGraphicFramePr>
        <p:xfrm>
          <a:off x="838200" y="1825625"/>
          <a:ext cx="10515600" cy="3936816"/>
        </p:xfrm>
        <a:graphic>
          <a:graphicData uri="http://schemas.openxmlformats.org/drawingml/2006/table">
            <a:tbl>
              <a:tblPr firstRow="1" bandRow="1">
                <a:tableStyleId>{5C22544A-7EE6-4342-B048-85BDC9FD1C3A}</a:tableStyleId>
              </a:tblPr>
              <a:tblGrid>
                <a:gridCol w="3078192">
                  <a:extLst>
                    <a:ext uri="{9D8B030D-6E8A-4147-A177-3AD203B41FA5}">
                      <a16:colId xmlns:a16="http://schemas.microsoft.com/office/drawing/2014/main" val="2534674802"/>
                    </a:ext>
                  </a:extLst>
                </a:gridCol>
                <a:gridCol w="7437408">
                  <a:extLst>
                    <a:ext uri="{9D8B030D-6E8A-4147-A177-3AD203B41FA5}">
                      <a16:colId xmlns:a16="http://schemas.microsoft.com/office/drawing/2014/main" val="582693726"/>
                    </a:ext>
                  </a:extLst>
                </a:gridCol>
              </a:tblGrid>
              <a:tr h="437424">
                <a:tc>
                  <a:txBody>
                    <a:bodyPr/>
                    <a:lstStyle/>
                    <a:p>
                      <a:pPr marL="376555" marR="568325" indent="-6350" algn="just">
                        <a:lnSpc>
                          <a:spcPct val="150000"/>
                        </a:lnSpc>
                        <a:spcAft>
                          <a:spcPts val="1190"/>
                        </a:spcAft>
                        <a:buNone/>
                      </a:pPr>
                      <a:r>
                        <a:rPr lang="en-IN" sz="1400" b="1">
                          <a:solidFill>
                            <a:srgbClr val="000000"/>
                          </a:solidFill>
                          <a:effectLst/>
                          <a:latin typeface="+mn-lt"/>
                          <a:ea typeface="Times New Roman" panose="02020603050405020304" pitchFamily="18" charset="0"/>
                        </a:rPr>
                        <a:t>Component</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b="1">
                          <a:solidFill>
                            <a:srgbClr val="000000"/>
                          </a:solidFill>
                          <a:effectLst/>
                          <a:latin typeface="+mn-lt"/>
                          <a:ea typeface="Times New Roman" panose="02020603050405020304" pitchFamily="18" charset="0"/>
                        </a:rPr>
                        <a:t>Description</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4125706567"/>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User Interface</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Provides login interface and displays authentication results to users</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16820262"/>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Authentication Server</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Verifies user identity using Keycloak</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938832633"/>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Feature Extraction Module</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Collects contextual login data such as IP address, device, and time</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973220002"/>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ML Risk Model</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Predicts risk score using models built with Scikit-learn</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3171557755"/>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Decision Engine</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Determines appropriate action based on risk level</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63973384"/>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Voting System</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Handles high-risk access requests through admin approval</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946648771"/>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Blockchain Logger</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Stores tamper-proof logs using hashing</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592109413"/>
                  </a:ext>
                </a:extLst>
              </a:tr>
              <a:tr h="437424">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Admin Dashboard</a:t>
                      </a:r>
                      <a:endParaRPr lang="en-IN" sz="1400">
                        <a:effectLst/>
                        <a:latin typeface="+mn-lt"/>
                        <a:ea typeface="Times New Roman" panose="02020603050405020304" pitchFamily="18" charset="0"/>
                      </a:endParaRPr>
                    </a:p>
                  </a:txBody>
                  <a:tcPr marL="68580" marR="68580" marT="0" marB="0"/>
                </a:tc>
                <a:tc>
                  <a:txBody>
                    <a:bodyPr/>
                    <a:lstStyle/>
                    <a:p>
                      <a:pPr marL="376555" marR="568325" indent="-6350" algn="just">
                        <a:lnSpc>
                          <a:spcPct val="150000"/>
                        </a:lnSpc>
                        <a:spcAft>
                          <a:spcPts val="1190"/>
                        </a:spcAft>
                        <a:buNone/>
                      </a:pPr>
                      <a:r>
                        <a:rPr lang="en-IN" sz="1400">
                          <a:solidFill>
                            <a:srgbClr val="000000"/>
                          </a:solidFill>
                          <a:effectLst/>
                          <a:latin typeface="+mn-lt"/>
                          <a:ea typeface="Times New Roman" panose="02020603050405020304" pitchFamily="18" charset="0"/>
                        </a:rPr>
                        <a:t>Enables monitoring and management of system activities</a:t>
                      </a:r>
                      <a:endParaRPr lang="en-IN" sz="140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7810358"/>
                  </a:ext>
                </a:extLst>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47496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Identification of constraints</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b="1">
                <a:ea typeface="+mn-lt"/>
                <a:cs typeface="+mn-lt"/>
              </a:rPr>
              <a:t>Limited Dataset:</a:t>
            </a:r>
          </a:p>
          <a:p>
            <a:r>
              <a:rPr lang="en-US" sz="2000">
                <a:ea typeface="+mn-lt"/>
                <a:cs typeface="+mn-lt"/>
              </a:rPr>
              <a:t>The machine learning model was trained on a relatively small dataset. </a:t>
            </a:r>
            <a:endParaRPr lang="en-US" sz="2000">
              <a:ea typeface="Calibri"/>
              <a:cs typeface="Calibri"/>
            </a:endParaRPr>
          </a:p>
          <a:p>
            <a:r>
              <a:rPr lang="en-US" sz="2000">
                <a:ea typeface="+mn-lt"/>
                <a:cs typeface="+mn-lt"/>
              </a:rPr>
              <a:t>This may affect generalization in highly diverse real-world scenarios. </a:t>
            </a:r>
          </a:p>
          <a:p>
            <a:pPr marL="0" indent="0">
              <a:buNone/>
            </a:pPr>
            <a:r>
              <a:rPr lang="en-US" b="1">
                <a:ea typeface="+mn-lt"/>
                <a:cs typeface="+mn-lt"/>
              </a:rPr>
              <a:t>Simulated Blockchain:</a:t>
            </a:r>
            <a:endParaRPr lang="en-US" b="1">
              <a:ea typeface="Calibri"/>
              <a:cs typeface="Calibri"/>
            </a:endParaRPr>
          </a:p>
          <a:p>
            <a:r>
              <a:rPr lang="en-US" sz="2000">
                <a:ea typeface="+mn-lt"/>
                <a:cs typeface="+mn-lt"/>
              </a:rPr>
              <a:t>The blockchain implementation is based on hashing rather than a fully decentralized network. </a:t>
            </a:r>
            <a:endParaRPr lang="en-US" sz="2000">
              <a:ea typeface="Calibri"/>
              <a:cs typeface="Calibri"/>
            </a:endParaRPr>
          </a:p>
          <a:p>
            <a:r>
              <a:rPr lang="en-US" sz="2000">
                <a:ea typeface="+mn-lt"/>
                <a:cs typeface="+mn-lt"/>
              </a:rPr>
              <a:t>It lacks features like distributed consensus and smart contracts. </a:t>
            </a:r>
          </a:p>
          <a:p>
            <a:pPr marL="0" indent="0">
              <a:buNone/>
            </a:pPr>
            <a:r>
              <a:rPr lang="en-US" b="1">
                <a:ea typeface="+mn-lt"/>
                <a:cs typeface="+mn-lt"/>
              </a:rPr>
              <a:t>Voting System Delay:</a:t>
            </a:r>
            <a:endParaRPr lang="en-US" b="1">
              <a:ea typeface="Calibri"/>
              <a:cs typeface="Calibri"/>
            </a:endParaRPr>
          </a:p>
          <a:p>
            <a:r>
              <a:rPr lang="en-US" sz="2000">
                <a:ea typeface="+mn-lt"/>
                <a:cs typeface="+mn-lt"/>
              </a:rPr>
              <a:t>High-risk cases require manual admin approval. </a:t>
            </a:r>
            <a:endParaRPr lang="en-US" sz="2000">
              <a:ea typeface="Calibri"/>
              <a:cs typeface="Calibri"/>
            </a:endParaRPr>
          </a:p>
          <a:p>
            <a:r>
              <a:rPr lang="en-US" sz="2000">
                <a:ea typeface="+mn-lt"/>
                <a:cs typeface="+mn-lt"/>
              </a:rPr>
              <a:t>This introduces latency in decision-making.</a:t>
            </a:r>
            <a:endParaRPr lang="en-US" sz="2000">
              <a:ea typeface="Calibri"/>
              <a:cs typeface="Calibri"/>
            </a:endParaRPr>
          </a:p>
          <a:p>
            <a:endParaRPr lang="en-US">
              <a:ea typeface="Calibri"/>
              <a:cs typeface="Calibri"/>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285240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alibri Light"/>
                <a:ea typeface="Calibri Light"/>
                <a:cs typeface="Calibri Light"/>
              </a:rPr>
              <a:t>Analysis of features and finalization subject to constraints</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sz="2000" b="1">
                <a:ea typeface="+mn-lt"/>
                <a:cs typeface="+mn-lt"/>
              </a:rPr>
              <a:t>High-Risk Scenarios: </a:t>
            </a:r>
            <a:r>
              <a:rPr lang="en-US" sz="2000">
                <a:ea typeface="+mn-lt"/>
                <a:cs typeface="+mn-lt"/>
              </a:rPr>
              <a:t>The system assigns higher risk scores when unusual patterns are detected, such as:</a:t>
            </a:r>
            <a:endParaRPr lang="en-US" sz="2000">
              <a:ea typeface="Calibri"/>
              <a:cs typeface="Calibri"/>
            </a:endParaRPr>
          </a:p>
          <a:p>
            <a:r>
              <a:rPr lang="en-US" sz="2000">
                <a:ea typeface="+mn-lt"/>
                <a:cs typeface="+mn-lt"/>
              </a:rPr>
              <a:t>Login attempts at uncommon times (e.g., late night or irregular hours) </a:t>
            </a:r>
            <a:endParaRPr lang="en-US" sz="2000">
              <a:ea typeface="Calibri"/>
              <a:cs typeface="Calibri"/>
            </a:endParaRPr>
          </a:p>
          <a:p>
            <a:r>
              <a:rPr lang="en-US" sz="2000">
                <a:ea typeface="+mn-lt"/>
                <a:cs typeface="+mn-lt"/>
              </a:rPr>
              <a:t>Access from a new or unknown device </a:t>
            </a:r>
            <a:endParaRPr lang="en-US" sz="2000">
              <a:ea typeface="Calibri"/>
              <a:cs typeface="Calibri"/>
            </a:endParaRPr>
          </a:p>
          <a:p>
            <a:r>
              <a:rPr lang="en-US" sz="2000">
                <a:ea typeface="+mn-lt"/>
                <a:cs typeface="+mn-lt"/>
              </a:rPr>
              <a:t>Login from a different IP address or location </a:t>
            </a:r>
            <a:endParaRPr lang="en-US" sz="2000">
              <a:latin typeface="Calibri"/>
              <a:ea typeface="Calibri"/>
              <a:cs typeface="Calibri"/>
            </a:endParaRPr>
          </a:p>
          <a:p>
            <a:pPr marL="0" indent="0">
              <a:buNone/>
            </a:pPr>
            <a:r>
              <a:rPr lang="en-US" sz="2000">
                <a:latin typeface="Calibri"/>
                <a:ea typeface="Calibri"/>
                <a:cs typeface="Calibri"/>
              </a:rPr>
              <a:t>These conditions indicate potential suspicious activity, leading to stricter authentication.</a:t>
            </a:r>
          </a:p>
          <a:p>
            <a:pPr>
              <a:buNone/>
            </a:pPr>
            <a:r>
              <a:rPr lang="en-US" sz="2000" b="1">
                <a:ea typeface="+mn-lt"/>
                <a:cs typeface="+mn-lt"/>
              </a:rPr>
              <a:t>Low-Risk Scenarios: </a:t>
            </a:r>
            <a:r>
              <a:rPr lang="en-US" sz="2000">
                <a:ea typeface="+mn-lt"/>
                <a:cs typeface="+mn-lt"/>
              </a:rPr>
              <a:t>Lower risk scores are assigned when consistent user behavior is observed:</a:t>
            </a:r>
            <a:endParaRPr lang="en-US" sz="2000">
              <a:ea typeface="Calibri"/>
              <a:cs typeface="Calibri"/>
            </a:endParaRPr>
          </a:p>
          <a:p>
            <a:pPr>
              <a:buFont typeface="Arial"/>
              <a:buChar char="•"/>
            </a:pPr>
            <a:r>
              <a:rPr lang="en-US" sz="2000">
                <a:ea typeface="+mn-lt"/>
                <a:cs typeface="+mn-lt"/>
              </a:rPr>
              <a:t>Regular login timings </a:t>
            </a:r>
            <a:endParaRPr lang="en-US" sz="2000">
              <a:ea typeface="Calibri"/>
              <a:cs typeface="Calibri"/>
            </a:endParaRPr>
          </a:p>
          <a:p>
            <a:pPr>
              <a:buFont typeface="Arial"/>
              <a:buChar char="•"/>
            </a:pPr>
            <a:r>
              <a:rPr lang="en-US" sz="2000">
                <a:ea typeface="+mn-lt"/>
                <a:cs typeface="+mn-lt"/>
              </a:rPr>
              <a:t>Recognized device and IP address </a:t>
            </a:r>
            <a:endParaRPr lang="en-US" sz="2000">
              <a:ea typeface="Calibri"/>
              <a:cs typeface="Calibri"/>
            </a:endParaRPr>
          </a:p>
          <a:p>
            <a:pPr>
              <a:buFont typeface="Arial"/>
              <a:buChar char="•"/>
            </a:pPr>
            <a:r>
              <a:rPr lang="en-US" sz="2000">
                <a:ea typeface="+mn-lt"/>
                <a:cs typeface="+mn-lt"/>
              </a:rPr>
              <a:t>Frequent and normal usage patterns </a:t>
            </a:r>
            <a:endParaRPr lang="en-US" sz="2000">
              <a:ea typeface="Calibri"/>
              <a:cs typeface="Calibri"/>
            </a:endParaRPr>
          </a:p>
          <a:p>
            <a:pPr marL="0" indent="0">
              <a:buNone/>
            </a:pPr>
            <a:endParaRPr lang="en-US" sz="2000">
              <a:latin typeface="Calibri"/>
              <a:ea typeface="Calibri"/>
              <a:cs typeface="Calibri"/>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4003662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atin typeface="Calibri Light"/>
                <a:ea typeface="Calibri Light"/>
                <a:cs typeface="Calibri Light"/>
              </a:rPr>
              <a:t>Identification of appropriate standards.</a:t>
            </a:r>
            <a:endParaRPr lang="en-US"/>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sz="2000">
                <a:ea typeface="+mn-lt"/>
                <a:cs typeface="+mn-lt"/>
              </a:rPr>
              <a:t>Each module in the system is designed to perform a specific function. The interaction between these modules ensures smooth and secure system operation.</a:t>
            </a:r>
            <a:endParaRPr lang="en-US" sz="2000">
              <a:ea typeface="Calibri"/>
              <a:cs typeface="Calibri"/>
            </a:endParaRPr>
          </a:p>
          <a:p>
            <a:r>
              <a:rPr lang="en-US" sz="2000" b="1">
                <a:ea typeface="+mn-lt"/>
                <a:cs typeface="+mn-lt"/>
              </a:rPr>
              <a:t>User Authentication Module: </a:t>
            </a:r>
            <a:r>
              <a:rPr lang="en-US" sz="2000">
                <a:latin typeface="Calibri"/>
                <a:ea typeface="+mn-lt"/>
                <a:cs typeface="Calibri"/>
              </a:rPr>
              <a:t>This module acts as the entry </a:t>
            </a:r>
            <a:r>
              <a:rPr lang="en-US" sz="2000" err="1">
                <a:latin typeface="Calibri"/>
                <a:ea typeface="+mn-lt"/>
                <a:cs typeface="Calibri"/>
              </a:rPr>
              <a:t>point</a:t>
            </a:r>
            <a:r>
              <a:rPr lang="en-US" sz="2000">
                <a:latin typeface="Calibri"/>
                <a:ea typeface="+mn-lt"/>
                <a:cs typeface="Calibri"/>
              </a:rPr>
              <a:t> and it</a:t>
            </a:r>
            <a:r>
              <a:rPr lang="en-US" sz="2000">
                <a:ea typeface="+mn-lt"/>
                <a:cs typeface="+mn-lt"/>
              </a:rPr>
              <a:t> ensures that only registered users can proceed further into the system by integrating with a secure identity management platform.</a:t>
            </a:r>
            <a:endParaRPr lang="en-US" sz="2000">
              <a:latin typeface="Calibri"/>
              <a:ea typeface="+mn-lt"/>
              <a:cs typeface="Calibri"/>
            </a:endParaRPr>
          </a:p>
          <a:p>
            <a:r>
              <a:rPr lang="en-US" sz="2000" b="1">
                <a:ea typeface="+mn-lt"/>
                <a:cs typeface="+mn-lt"/>
              </a:rPr>
              <a:t>Feature Extraction Module:</a:t>
            </a:r>
            <a:r>
              <a:rPr lang="en-US" sz="2000">
                <a:ea typeface="+mn-lt"/>
                <a:cs typeface="+mn-lt"/>
              </a:rPr>
              <a:t> </a:t>
            </a:r>
            <a:r>
              <a:rPr lang="en-US" sz="2000">
                <a:latin typeface="Calibri"/>
                <a:ea typeface="+mn-lt"/>
                <a:cs typeface="Calibri"/>
              </a:rPr>
              <a:t>It gathers contextual information related to the login attempt.</a:t>
            </a:r>
            <a:endParaRPr lang="en-US" sz="2000">
              <a:latin typeface="Calibri"/>
              <a:ea typeface="Calibri"/>
              <a:cs typeface="Calibri"/>
            </a:endParaRPr>
          </a:p>
          <a:p>
            <a:r>
              <a:rPr lang="en-US" sz="2000" b="1">
                <a:ea typeface="+mn-lt"/>
                <a:cs typeface="+mn-lt"/>
              </a:rPr>
              <a:t>Risk Scoring Module:</a:t>
            </a:r>
            <a:r>
              <a:rPr lang="en-US" sz="2000">
                <a:ea typeface="+mn-lt"/>
                <a:cs typeface="+mn-lt"/>
              </a:rPr>
              <a:t> The model classifies the login into different risk levels based on learned patterns from historical data.</a:t>
            </a:r>
          </a:p>
          <a:p>
            <a:r>
              <a:rPr lang="en-US" sz="2000" b="1">
                <a:ea typeface="+mn-lt"/>
                <a:cs typeface="+mn-lt"/>
              </a:rPr>
              <a:t>Decision Engine: </a:t>
            </a:r>
            <a:r>
              <a:rPr lang="en-US" sz="2000">
                <a:latin typeface="Calibri"/>
                <a:ea typeface="+mn-lt"/>
                <a:cs typeface="Calibri"/>
              </a:rPr>
              <a:t>It is responsible for selecting the appropriate action based on the computed risk score.</a:t>
            </a:r>
          </a:p>
          <a:p>
            <a:r>
              <a:rPr lang="en-US" sz="2000" b="1">
                <a:latin typeface="Calibri"/>
                <a:ea typeface="Calibri"/>
                <a:cs typeface="Calibri"/>
              </a:rPr>
              <a:t>Blockchain Logging Module,</a:t>
            </a:r>
            <a:r>
              <a:rPr lang="en-US" sz="2000" b="1">
                <a:ea typeface="+mn-lt"/>
                <a:cs typeface="+mn-lt"/>
              </a:rPr>
              <a:t> Voting-Based Decision System and Admin Monitoring Dashboard.</a:t>
            </a:r>
          </a:p>
          <a:p>
            <a:endParaRPr lang="en-US" sz="2000" b="1">
              <a:latin typeface="Calibri"/>
              <a:ea typeface="Calibri"/>
              <a:cs typeface="Calibri"/>
            </a:endParaRPr>
          </a:p>
          <a:p>
            <a:endParaRPr lang="en-US" sz="1200">
              <a:latin typeface="Calibri"/>
              <a:ea typeface="Calibri"/>
              <a:cs typeface="Calibri"/>
            </a:endParaRPr>
          </a:p>
          <a:p>
            <a:endParaRPr lang="en-US" sz="2000">
              <a:latin typeface="Calibri"/>
              <a:ea typeface="Calibri"/>
              <a:cs typeface="Calibri"/>
            </a:endParaRPr>
          </a:p>
          <a:p>
            <a:endParaRPr lang="en-US" sz="2000">
              <a:ea typeface="Calibri"/>
              <a:cs typeface="Calibri"/>
            </a:endParaRPr>
          </a:p>
          <a:p>
            <a:endParaRPr lang="en-US" sz="2000">
              <a:ea typeface="Calibri"/>
              <a:cs typeface="Calibri"/>
            </a:endParaRPr>
          </a:p>
          <a:p>
            <a:endParaRPr lang="en-US" sz="2000">
              <a:ea typeface="Calibri"/>
              <a:cs typeface="Calibri"/>
            </a:endParaRPr>
          </a:p>
          <a:p>
            <a:endParaRPr lang="en-US" sz="2000">
              <a:ea typeface="Calibri"/>
              <a:cs typeface="Calibri"/>
            </a:endParaRPr>
          </a:p>
          <a:p>
            <a:endParaRPr lang="en-US" sz="2000">
              <a:ea typeface="Calibri"/>
              <a:cs typeface="Calibri"/>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880465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alibri Light"/>
                <a:ea typeface="Calibri Light"/>
                <a:cs typeface="Calibri Light"/>
              </a:rPr>
              <a:t>Design Constraints.</a:t>
            </a:r>
          </a:p>
        </p:txBody>
      </p:sp>
      <p:sp>
        <p:nvSpPr>
          <p:cNvPr id="3" name="Content Placeholder 2"/>
          <p:cNvSpPr>
            <a:spLocks noGrp="1"/>
          </p:cNvSpPr>
          <p:nvPr>
            <p:ph idx="1"/>
          </p:nvPr>
        </p:nvSpPr>
        <p:spPr/>
        <p:txBody>
          <a:bodyPr vert="horz" lIns="91440" tIns="45720" rIns="91440" bIns="45720" rtlCol="0" anchor="t">
            <a:normAutofit/>
          </a:bodyPr>
          <a:lstStyle/>
          <a:p>
            <a:r>
              <a:rPr lang="en-US" sz="2000">
                <a:ea typeface="Calibri"/>
                <a:cs typeface="Calibri"/>
              </a:rPr>
              <a:t>The proposed AI-driven authentication and authorization system operates under several critical design constraints that influence its technical architecture, scalability, and real-world applicability. These constraints are not only technical but also legal, economic, and societal in nature, requiring a balanced and well-informed design approach.</a:t>
            </a:r>
          </a:p>
          <a:p>
            <a:r>
              <a:rPr lang="en-US" sz="2000">
                <a:ea typeface="+mn-lt"/>
                <a:cs typeface="+mn-lt"/>
              </a:rPr>
              <a:t>Regulatory and Privacy Constraints</a:t>
            </a:r>
          </a:p>
          <a:p>
            <a:r>
              <a:rPr lang="en-US" sz="2000">
                <a:latin typeface="Calibri"/>
                <a:ea typeface="Calibri"/>
                <a:cs typeface="Calibri"/>
              </a:rPr>
              <a:t>Economic and Resource Constraints</a:t>
            </a:r>
          </a:p>
          <a:p>
            <a:r>
              <a:rPr lang="en-US" sz="2000">
                <a:ea typeface="+mn-lt"/>
                <a:cs typeface="+mn-lt"/>
              </a:rPr>
              <a:t>Implementation Feasibility Constraints:</a:t>
            </a:r>
            <a:endParaRPr lang="en-US" sz="2000">
              <a:latin typeface="Calibri"/>
              <a:ea typeface="Calibri"/>
              <a:cs typeface="Calibri"/>
            </a:endParaRPr>
          </a:p>
          <a:p>
            <a:r>
              <a:rPr lang="en-US" sz="2000">
                <a:latin typeface="Calibri"/>
                <a:ea typeface="Calibri"/>
                <a:cs typeface="Calibri"/>
              </a:rPr>
              <a:t>Social and Political Constraints</a:t>
            </a:r>
          </a:p>
          <a:p>
            <a:r>
              <a:rPr lang="en-US" sz="2000">
                <a:ea typeface="+mn-lt"/>
                <a:cs typeface="+mn-lt"/>
              </a:rPr>
              <a:t>Environmental Constraints:</a:t>
            </a:r>
            <a:endParaRPr lang="en-US" sz="2000">
              <a:latin typeface="Calibri"/>
              <a:ea typeface="Calibri"/>
              <a:cs typeface="Calibri"/>
            </a:endParaRPr>
          </a:p>
          <a:p>
            <a:r>
              <a:rPr lang="en-US" sz="2000">
                <a:latin typeface="Calibri"/>
                <a:ea typeface="Calibri"/>
                <a:cs typeface="Calibri"/>
              </a:rPr>
              <a:t>Fairness, Safety, and Ethical Constraints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195242837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0</TotalTime>
  <Words>1030</Words>
  <Application>Microsoft Office PowerPoint</Application>
  <PresentationFormat>Widescreen</PresentationFormat>
  <Paragraphs>125</Paragraphs>
  <Slides>9</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9</vt:i4>
      </vt:variant>
    </vt:vector>
  </HeadingPairs>
  <TitlesOfParts>
    <vt:vector size="18" baseType="lpstr">
      <vt:lpstr>Arial</vt:lpstr>
      <vt:lpstr>Calibri</vt:lpstr>
      <vt:lpstr>Calibri Light</vt:lpstr>
      <vt:lpstr>Cambria</vt:lpstr>
      <vt:lpstr>Casper</vt:lpstr>
      <vt:lpstr>Times New Roman</vt:lpstr>
      <vt:lpstr>1_Office Theme</vt:lpstr>
      <vt:lpstr>2_Office Theme</vt:lpstr>
      <vt:lpstr>Contents Slide Master</vt:lpstr>
      <vt:lpstr>PowerPoint Presentation</vt:lpstr>
      <vt:lpstr>Table Of Content</vt:lpstr>
      <vt:lpstr>Feasibility</vt:lpstr>
      <vt:lpstr>Feasibility</vt:lpstr>
      <vt:lpstr>Features / Characteristics of the proposed solution</vt:lpstr>
      <vt:lpstr>Identification of constraints</vt:lpstr>
      <vt:lpstr>Analysis of features and finalization subject to constraints</vt:lpstr>
      <vt:lpstr>Identification of appropriate standards.</vt:lpstr>
      <vt:lpstr>Design Constraints.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PARTH KANSAL</cp:lastModifiedBy>
  <cp:revision>3</cp:revision>
  <dcterms:created xsi:type="dcterms:W3CDTF">2019-01-09T10:33:58Z</dcterms:created>
  <dcterms:modified xsi:type="dcterms:W3CDTF">2026-04-30T01:45:47Z</dcterms:modified>
</cp:coreProperties>
</file>