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702" r:id="rId2"/>
    <p:sldMasterId id="2147483686" r:id="rId3"/>
  </p:sldMasterIdLst>
  <p:notesMasterIdLst>
    <p:notesMasterId r:id="rId15"/>
  </p:notesMasterIdLst>
  <p:handoutMasterIdLst>
    <p:handoutMasterId r:id="rId16"/>
  </p:handoutMasterIdLst>
  <p:sldIdLst>
    <p:sldId id="420" r:id="rId4"/>
    <p:sldId id="399" r:id="rId5"/>
    <p:sldId id="400" r:id="rId6"/>
    <p:sldId id="408" r:id="rId7"/>
    <p:sldId id="401" r:id="rId8"/>
    <p:sldId id="410" r:id="rId9"/>
    <p:sldId id="411" r:id="rId10"/>
    <p:sldId id="412" r:id="rId11"/>
    <p:sldId id="402" r:id="rId12"/>
    <p:sldId id="404" r:id="rId13"/>
    <p:sldId id="40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8E6B80-9EC7-4A58-1764-0166D98C84F5}" v="1055" dt="2026-04-29T15:20:13.466"/>
    <p1510:client id="{4129A5A1-5A6D-18D8-439D-D5412009D652}" v="81" dt="2026-04-29T14:38:03.080"/>
    <p1510:client id="{4D4F308E-13D0-71E9-A15A-DEB0C3FFBA2C}" v="96" dt="2026-04-29T15:30:59.356"/>
    <p1510:client id="{E50750C6-0A2C-4508-B7DE-8440ADB7619F}" v="117" dt="2026-04-29T14:27:45.7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21" Type="http://schemas.microsoft.com/office/2015/10/relationships/revisionInfo" Target="revisionInfo.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4/30/2026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a:p>
        </p:txBody>
      </p:sp>
    </p:spTree>
    <p:extLst>
      <p:ext uri="{BB962C8B-B14F-4D97-AF65-F5344CB8AC3E}">
        <p14:creationId xmlns:p14="http://schemas.microsoft.com/office/powerpoint/2010/main" val="3974081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27772175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562005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1595747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39475951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4278359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27023021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a:t>Your Picture Here</a:t>
            </a:r>
            <a:endParaRPr lang="ko-KR" altLang="en-US"/>
          </a:p>
        </p:txBody>
      </p:sp>
    </p:spTree>
    <p:extLst>
      <p:ext uri="{BB962C8B-B14F-4D97-AF65-F5344CB8AC3E}">
        <p14:creationId xmlns:p14="http://schemas.microsoft.com/office/powerpoint/2010/main" val="20146571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D6923-6AE0-638B-2585-FF0E01920C79}"/>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C4782261-D337-5865-5233-363567A657EF}"/>
              </a:ext>
            </a:extLst>
          </p:cNvPr>
          <p:cNvSpPr/>
          <p:nvPr/>
        </p:nvSpPr>
        <p:spPr>
          <a:xfrm>
            <a:off x="0" y="6053794"/>
            <a:ext cx="12192000" cy="4390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9871580-74A9-5202-7818-D719A351F60D}"/>
              </a:ext>
            </a:extLst>
          </p:cNvPr>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a:extLst>
              <a:ext uri="{FF2B5EF4-FFF2-40B4-BE49-F238E27FC236}">
                <a16:creationId xmlns:a16="http://schemas.microsoft.com/office/drawing/2014/main" id="{425F329B-ACA1-C8F7-8F79-6CE35ACDCA5F}"/>
              </a:ext>
            </a:extLst>
          </p:cNvPr>
          <p:cNvSpPr txBox="1">
            <a:spLocks/>
          </p:cNvSpPr>
          <p:nvPr/>
        </p:nvSpPr>
        <p:spPr>
          <a:xfrm>
            <a:off x="87630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Right Triangle 45">
            <a:extLst>
              <a:ext uri="{FF2B5EF4-FFF2-40B4-BE49-F238E27FC236}">
                <a16:creationId xmlns:a16="http://schemas.microsoft.com/office/drawing/2014/main" id="{4D58E6BB-F8A8-CB66-8AC8-60C79A4D0781}"/>
              </a:ext>
            </a:extLst>
          </p:cNvPr>
          <p:cNvSpPr/>
          <p:nvPr/>
        </p:nvSpPr>
        <p:spPr>
          <a:xfrm flipV="1">
            <a:off x="9506857" y="5700394"/>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37" name="Right Triangle 36">
            <a:extLst>
              <a:ext uri="{FF2B5EF4-FFF2-40B4-BE49-F238E27FC236}">
                <a16:creationId xmlns:a16="http://schemas.microsoft.com/office/drawing/2014/main" id="{BF777EC0-1829-196C-C6DE-B982C34669A8}"/>
              </a:ext>
            </a:extLst>
          </p:cNvPr>
          <p:cNvSpPr/>
          <p:nvPr/>
        </p:nvSpPr>
        <p:spPr>
          <a:xfrm flipH="1">
            <a:off x="7045437" y="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a:extLst>
              <a:ext uri="{FF2B5EF4-FFF2-40B4-BE49-F238E27FC236}">
                <a16:creationId xmlns:a16="http://schemas.microsoft.com/office/drawing/2014/main" id="{83728FA9-E4CF-55A3-3BCC-A8E6BB06AD27}"/>
              </a:ext>
            </a:extLst>
          </p:cNvPr>
          <p:cNvSpPr/>
          <p:nvPr/>
        </p:nvSpPr>
        <p:spPr>
          <a:xfrm>
            <a:off x="2260122" y="1474032"/>
            <a:ext cx="7246736" cy="2624726"/>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i="1" dirty="0">
                <a:solidFill>
                  <a:srgbClr val="000000"/>
                </a:solidFill>
              </a:rPr>
              <a:t>Submitted in the partial fulfillment for the award of the degree of</a:t>
            </a:r>
          </a:p>
          <a:p>
            <a:pPr algn="ctr"/>
            <a:r>
              <a:rPr lang="en-US" sz="2400" b="1" dirty="0">
                <a:solidFill>
                  <a:srgbClr val="000000"/>
                </a:solidFill>
              </a:rPr>
              <a:t>BACHELOR OF ENGINEERING </a:t>
            </a:r>
            <a:endParaRPr lang="en-US" sz="2400" dirty="0">
              <a:solidFill>
                <a:srgbClr val="000000"/>
              </a:solidFill>
            </a:endParaRPr>
          </a:p>
          <a:p>
            <a:pPr algn="ctr"/>
            <a:r>
              <a:rPr lang="en-US" sz="2400" i="1" dirty="0">
                <a:solidFill>
                  <a:srgbClr val="000000"/>
                </a:solidFill>
              </a:rPr>
              <a:t> IN</a:t>
            </a:r>
          </a:p>
          <a:p>
            <a:pPr algn="ctr"/>
            <a:r>
              <a:rPr lang="en-US" sz="2400" b="1" dirty="0">
                <a:solidFill>
                  <a:srgbClr val="000000"/>
                </a:solidFill>
              </a:rPr>
              <a:t>Computer Science Engineering </a:t>
            </a:r>
            <a:br>
              <a:rPr lang="en-US" sz="2400" b="1" dirty="0">
                <a:solidFill>
                  <a:srgbClr val="000000"/>
                </a:solidFill>
              </a:rPr>
            </a:br>
            <a:r>
              <a:rPr lang="en-US" sz="2400" b="1" dirty="0">
                <a:solidFill>
                  <a:srgbClr val="000000"/>
                </a:solidFill>
              </a:rPr>
              <a:t>Specialization in Information Security (IBM)</a:t>
            </a:r>
            <a:endParaRPr lang="en-US" sz="2400" dirty="0">
              <a:solidFill>
                <a:srgbClr val="000000"/>
              </a:solidFill>
            </a:endParaRPr>
          </a:p>
        </p:txBody>
      </p:sp>
      <p:sp>
        <p:nvSpPr>
          <p:cNvPr id="43" name="Right Triangle 42">
            <a:extLst>
              <a:ext uri="{FF2B5EF4-FFF2-40B4-BE49-F238E27FC236}">
                <a16:creationId xmlns:a16="http://schemas.microsoft.com/office/drawing/2014/main" id="{A5F61779-7840-E666-3A70-5111BE039E13}"/>
              </a:ext>
            </a:extLst>
          </p:cNvPr>
          <p:cNvSpPr/>
          <p:nvPr/>
        </p:nvSpPr>
        <p:spPr>
          <a:xfrm rot="10800000" flipV="1">
            <a:off x="9825377" y="52577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23F6CFC-A635-5D47-0341-C19786D405BB}"/>
              </a:ext>
            </a:extLst>
          </p:cNvPr>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a:solidFill>
                  <a:srgbClr val="C00000"/>
                </a:solidFill>
                <a:latin typeface="Casper" panose="02000506000000020004" pitchFamily="2" charset="0"/>
                <a:ea typeface="Karla" pitchFamily="2" charset="0"/>
                <a:cs typeface="Karla" pitchFamily="2" charset="0"/>
              </a:rPr>
              <a:t>LEARN</a:t>
            </a:r>
            <a:r>
              <a:rPr lang="en-US" sz="2000" b="1">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a:solidFill>
                <a:prstClr val="black"/>
              </a:solidFill>
              <a:latin typeface="Casper" panose="02000506000000020004" pitchFamily="2" charset="0"/>
            </a:endParaRPr>
          </a:p>
          <a:p>
            <a:pPr eaLnBrk="1" hangingPunct="1"/>
            <a:endParaRPr lang="en-US" sz="1600" b="1">
              <a:latin typeface="Casper" panose="02000506000000020004" pitchFamily="2" charset="0"/>
            </a:endParaRPr>
          </a:p>
        </p:txBody>
      </p:sp>
      <p:sp>
        <p:nvSpPr>
          <p:cNvPr id="52" name="Rectangle 51">
            <a:extLst>
              <a:ext uri="{FF2B5EF4-FFF2-40B4-BE49-F238E27FC236}">
                <a16:creationId xmlns:a16="http://schemas.microsoft.com/office/drawing/2014/main" id="{564707E6-E786-0F43-52A2-327A2853789B}"/>
              </a:ext>
            </a:extLst>
          </p:cNvPr>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09A3DC08-2530-37D2-FDE1-07A0494745EA}"/>
              </a:ext>
            </a:extLst>
          </p:cNvPr>
          <p:cNvSpPr txBox="1">
            <a:spLocks noChangeArrowheads="1"/>
          </p:cNvSpPr>
          <p:nvPr/>
        </p:nvSpPr>
        <p:spPr bwMode="auto">
          <a:xfrm>
            <a:off x="443345" y="6014156"/>
            <a:ext cx="5882609"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a:solidFill>
                  <a:srgbClr val="FF0000"/>
                </a:solidFill>
                <a:latin typeface="Times New Roman" pitchFamily="18" charset="0"/>
                <a:cs typeface="Times New Roman" pitchFamily="18" charset="0"/>
              </a:rPr>
              <a:t>Department of AIT-CSE</a:t>
            </a:r>
            <a:endParaRPr lang="en-US" sz="1600">
              <a:solidFill>
                <a:srgbClr val="FF0000"/>
              </a:solidFill>
              <a:latin typeface="Times New Roman" pitchFamily="18" charset="0"/>
              <a:cs typeface="Times New Roman" pitchFamily="18" charset="0"/>
            </a:endParaRPr>
          </a:p>
        </p:txBody>
      </p:sp>
      <p:sp>
        <p:nvSpPr>
          <p:cNvPr id="26" name="TextBox 25">
            <a:extLst>
              <a:ext uri="{FF2B5EF4-FFF2-40B4-BE49-F238E27FC236}">
                <a16:creationId xmlns:a16="http://schemas.microsoft.com/office/drawing/2014/main" id="{5A28F2CA-EE51-4336-A9D1-0044B63EC7C3}"/>
              </a:ext>
            </a:extLst>
          </p:cNvPr>
          <p:cNvSpPr txBox="1">
            <a:spLocks noChangeArrowheads="1"/>
          </p:cNvSpPr>
          <p:nvPr/>
        </p:nvSpPr>
        <p:spPr bwMode="auto">
          <a:xfrm>
            <a:off x="1264412" y="443734"/>
            <a:ext cx="9696662" cy="923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lnSpc>
                <a:spcPct val="90000"/>
              </a:lnSpc>
              <a:spcAft>
                <a:spcPct val="35000"/>
              </a:spcAft>
            </a:pPr>
            <a:r>
              <a:rPr lang="en-US" sz="3000" b="1">
                <a:latin typeface="Cambria" panose="02040503050406030204" pitchFamily="18" charset="0"/>
                <a:ea typeface="Cambria" panose="02040503050406030204" pitchFamily="18" charset="0"/>
              </a:rPr>
              <a:t>LLM-Driven Adaptive Authentication and Access Control in Zero Trust Systems Using Blockchain</a:t>
            </a:r>
          </a:p>
        </p:txBody>
      </p:sp>
      <p:sp>
        <p:nvSpPr>
          <p:cNvPr id="15" name="Slide Number Placeholder 14">
            <a:extLst>
              <a:ext uri="{FF2B5EF4-FFF2-40B4-BE49-F238E27FC236}">
                <a16:creationId xmlns:a16="http://schemas.microsoft.com/office/drawing/2014/main" id="{A849A0C6-0529-2EF4-B7A2-988DEEAE610C}"/>
              </a:ext>
            </a:extLst>
          </p:cNvPr>
          <p:cNvSpPr>
            <a:spLocks noGrp="1"/>
          </p:cNvSpPr>
          <p:nvPr>
            <p:ph type="sldNum" sz="quarter" idx="12"/>
          </p:nvPr>
        </p:nvSpPr>
        <p:spPr/>
        <p:txBody>
          <a:bodyPr/>
          <a:lstStyle/>
          <a:p>
            <a:fld id="{BDCDBBEF-AA6C-4BA6-85B2-A17D7F280E38}" type="slidenum">
              <a:rPr lang="en-US" smtClean="0"/>
              <a:pPr/>
              <a:t>1</a:t>
            </a:fld>
            <a:endParaRPr lang="en-US"/>
          </a:p>
        </p:txBody>
      </p:sp>
      <p:sp>
        <p:nvSpPr>
          <p:cNvPr id="5" name="TextBox 4">
            <a:extLst>
              <a:ext uri="{FF2B5EF4-FFF2-40B4-BE49-F238E27FC236}">
                <a16:creationId xmlns:a16="http://schemas.microsoft.com/office/drawing/2014/main" id="{018455CE-47A9-AF2C-B028-A0BBEC2E173E}"/>
              </a:ext>
            </a:extLst>
          </p:cNvPr>
          <p:cNvSpPr txBox="1"/>
          <p:nvPr/>
        </p:nvSpPr>
        <p:spPr>
          <a:xfrm>
            <a:off x="736115" y="4317759"/>
            <a:ext cx="4098568" cy="1323439"/>
          </a:xfrm>
          <a:prstGeom prst="rect">
            <a:avLst/>
          </a:prstGeom>
          <a:noFill/>
        </p:spPr>
        <p:txBody>
          <a:bodyPr wrap="square" rtlCol="0">
            <a:spAutoFit/>
          </a:bodyPr>
          <a:lstStyle/>
          <a:p>
            <a:r>
              <a:rPr lang="en-US" sz="2000" b="1" dirty="0"/>
              <a:t>Submitted by: </a:t>
            </a:r>
          </a:p>
          <a:p>
            <a:r>
              <a:rPr lang="en-US" sz="2000" dirty="0"/>
              <a:t>Parth Kansal - </a:t>
            </a:r>
            <a:r>
              <a:rPr lang="en-IN" sz="2000" dirty="0"/>
              <a:t>23BIS70035</a:t>
            </a:r>
            <a:br>
              <a:rPr lang="en-US" sz="2000" dirty="0"/>
            </a:br>
            <a:r>
              <a:rPr lang="en-US" sz="2000" dirty="0"/>
              <a:t>Anshul Sharma - </a:t>
            </a:r>
            <a:r>
              <a:rPr lang="en-IN" sz="2000" dirty="0"/>
              <a:t>23BIS70073</a:t>
            </a:r>
            <a:br>
              <a:rPr lang="en-US" sz="2000" dirty="0"/>
            </a:br>
            <a:r>
              <a:rPr lang="en-US" sz="2000" dirty="0"/>
              <a:t>Vireshwar Singh Tomar - </a:t>
            </a:r>
            <a:r>
              <a:rPr lang="en-IN" sz="2000" dirty="0"/>
              <a:t>23BIS70081</a:t>
            </a:r>
            <a:endParaRPr lang="en-US" sz="2000" dirty="0"/>
          </a:p>
        </p:txBody>
      </p:sp>
      <p:sp>
        <p:nvSpPr>
          <p:cNvPr id="6" name="TextBox 5">
            <a:extLst>
              <a:ext uri="{FF2B5EF4-FFF2-40B4-BE49-F238E27FC236}">
                <a16:creationId xmlns:a16="http://schemas.microsoft.com/office/drawing/2014/main" id="{FEC5F573-C18A-B0FF-BFA1-F75FDC47F3AE}"/>
              </a:ext>
            </a:extLst>
          </p:cNvPr>
          <p:cNvSpPr txBox="1"/>
          <p:nvPr/>
        </p:nvSpPr>
        <p:spPr>
          <a:xfrm>
            <a:off x="8041782" y="4271593"/>
            <a:ext cx="2971326" cy="707886"/>
          </a:xfrm>
          <a:prstGeom prst="rect">
            <a:avLst/>
          </a:prstGeom>
          <a:noFill/>
        </p:spPr>
        <p:txBody>
          <a:bodyPr wrap="none" rtlCol="0">
            <a:spAutoFit/>
          </a:bodyPr>
          <a:lstStyle/>
          <a:p>
            <a:r>
              <a:rPr lang="en-US" sz="2000" b="1" dirty="0"/>
              <a:t>Under the Supervision of: </a:t>
            </a:r>
            <a:endParaRPr lang="en-US" sz="2000" dirty="0"/>
          </a:p>
          <a:p>
            <a:r>
              <a:rPr lang="en-US" sz="2000" dirty="0"/>
              <a:t>Ms. Sidrah Fayaz Wani</a:t>
            </a:r>
          </a:p>
        </p:txBody>
      </p:sp>
    </p:spTree>
    <p:extLst>
      <p:ext uri="{BB962C8B-B14F-4D97-AF65-F5344CB8AC3E}">
        <p14:creationId xmlns:p14="http://schemas.microsoft.com/office/powerpoint/2010/main" val="2871233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676" y="365126"/>
            <a:ext cx="10515600" cy="976206"/>
          </a:xfrm>
        </p:spPr>
        <p:txBody>
          <a:bodyPr/>
          <a:lstStyle/>
          <a:p>
            <a:r>
              <a:rPr lang="en-US" b="1">
                <a:latin typeface="Times New Roman"/>
                <a:cs typeface="Times New Roman"/>
              </a:rPr>
              <a:t>Table Of Content</a:t>
            </a:r>
          </a:p>
        </p:txBody>
      </p:sp>
      <p:sp>
        <p:nvSpPr>
          <p:cNvPr id="3" name="Content Placeholder 2"/>
          <p:cNvSpPr>
            <a:spLocks noGrp="1"/>
          </p:cNvSpPr>
          <p:nvPr>
            <p:ph idx="1"/>
          </p:nvPr>
        </p:nvSpPr>
        <p:spPr>
          <a:xfrm>
            <a:off x="838200" y="1588220"/>
            <a:ext cx="10515600" cy="4952253"/>
          </a:xfrm>
        </p:spPr>
        <p:txBody>
          <a:bodyPr vert="horz" lIns="91440" tIns="45720" rIns="91440" bIns="45720" rtlCol="0" anchor="t">
            <a:normAutofit/>
          </a:bodyPr>
          <a:lstStyle/>
          <a:p>
            <a:r>
              <a:rPr lang="en-US">
                <a:latin typeface="Times New Roman"/>
                <a:cs typeface="Times New Roman"/>
              </a:rPr>
              <a:t>Project Planning and Task Definition</a:t>
            </a:r>
          </a:p>
          <a:p>
            <a:r>
              <a:rPr lang="en-US">
                <a:latin typeface="Times New Roman"/>
                <a:cs typeface="Times New Roman"/>
              </a:rPr>
              <a:t>Problem Statement</a:t>
            </a:r>
          </a:p>
          <a:p>
            <a:r>
              <a:rPr lang="en-US" spc="-10">
                <a:latin typeface="Times New Roman"/>
                <a:cs typeface="Times New Roman"/>
              </a:rPr>
              <a:t>Literature Review / Background Study</a:t>
            </a:r>
          </a:p>
          <a:p>
            <a:r>
              <a:rPr lang="en-US"/>
              <a:t>Methodology &amp; Technical Approach</a:t>
            </a:r>
          </a:p>
          <a:p>
            <a:r>
              <a:rPr lang="en-US"/>
              <a:t>Results Achieved So Far</a:t>
            </a:r>
          </a:p>
          <a:p>
            <a:endParaRPr lang="en-US"/>
          </a:p>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2605982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atin typeface="Times New Roman"/>
                <a:cs typeface="Times New Roman"/>
              </a:rPr>
              <a:t>Project Planning and Task Definition</a:t>
            </a:r>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
        <p:nvSpPr>
          <p:cNvPr id="5" name="Rectangle 1">
            <a:extLst>
              <a:ext uri="{FF2B5EF4-FFF2-40B4-BE49-F238E27FC236}">
                <a16:creationId xmlns:a16="http://schemas.microsoft.com/office/drawing/2014/main" id="{85593711-0EA3-B5E1-D6DD-6FF08CC46A7A}"/>
              </a:ext>
            </a:extLst>
          </p:cNvPr>
          <p:cNvSpPr>
            <a:spLocks noGrp="1" noChangeArrowheads="1"/>
          </p:cNvSpPr>
          <p:nvPr>
            <p:ph idx="1"/>
          </p:nvPr>
        </p:nvSpPr>
        <p:spPr bwMode="auto">
          <a:xfrm>
            <a:off x="2748817" y="1429078"/>
            <a:ext cx="668426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a:latin typeface="Times New Roman"/>
                <a:cs typeface="Times New Roman"/>
              </a:rPr>
              <a:t>Project Duration: January 2026 to April 2026</a:t>
            </a:r>
            <a:endParaRPr lang="en-US" altLang="en-US" b="0" i="0" u="none" strike="noStrike" cap="none" normalizeH="0" baseline="0">
              <a:ln>
                <a:noFill/>
              </a:ln>
              <a:solidFill>
                <a:schemeClr val="tx1"/>
              </a:solidFill>
              <a:effectLst/>
              <a:latin typeface="Times New Roman"/>
              <a:cs typeface="Times New Roman"/>
            </a:endParaRPr>
          </a:p>
        </p:txBody>
      </p:sp>
      <p:sp>
        <p:nvSpPr>
          <p:cNvPr id="6" name="TextBox 5">
            <a:extLst>
              <a:ext uri="{FF2B5EF4-FFF2-40B4-BE49-F238E27FC236}">
                <a16:creationId xmlns:a16="http://schemas.microsoft.com/office/drawing/2014/main" id="{4AA93963-5C90-8586-6277-7911A3ABC95F}"/>
              </a:ext>
            </a:extLst>
          </p:cNvPr>
          <p:cNvSpPr txBox="1"/>
          <p:nvPr/>
        </p:nvSpPr>
        <p:spPr>
          <a:xfrm>
            <a:off x="838200" y="2252503"/>
            <a:ext cx="3448728" cy="3170099"/>
          </a:xfrm>
          <a:prstGeom prst="rect">
            <a:avLst/>
          </a:prstGeom>
          <a:noFill/>
        </p:spPr>
        <p:txBody>
          <a:bodyPr wrap="square" lIns="91440" tIns="45720" rIns="91440" bIns="45720" rtlCol="0" anchor="t">
            <a:spAutoFit/>
          </a:bodyPr>
          <a:lstStyle/>
          <a:p>
            <a:pPr marL="285750" indent="-285750">
              <a:buFont typeface="Arial"/>
              <a:buChar char="•"/>
            </a:pPr>
            <a:r>
              <a:rPr lang="en-IN" sz="2000" b="1">
                <a:latin typeface="Times New Roman"/>
                <a:cs typeface="Times New Roman"/>
              </a:rPr>
              <a:t>Chapter 1: Introduction to the Problem</a:t>
            </a:r>
            <a:endParaRPr lang="en-US" sz="2000" b="1">
              <a:latin typeface="Times New Roman"/>
              <a:ea typeface="Calibri"/>
              <a:cs typeface="Times New Roman"/>
            </a:endParaRPr>
          </a:p>
          <a:p>
            <a:pPr marL="285750" indent="-285750">
              <a:buFont typeface="Arial"/>
              <a:buChar char="•"/>
            </a:pPr>
            <a:r>
              <a:rPr lang="en-IN" sz="2000" b="1">
                <a:latin typeface="Times New Roman"/>
                <a:cs typeface="Times New Roman"/>
              </a:rPr>
              <a:t>Chapter 2: Literature Survey</a:t>
            </a:r>
          </a:p>
          <a:p>
            <a:pPr marL="285750" indent="-285750">
              <a:buFont typeface="Arial"/>
              <a:buChar char="•"/>
            </a:pPr>
            <a:r>
              <a:rPr lang="en-IN" sz="2000" b="1">
                <a:latin typeface="Times New Roman"/>
                <a:cs typeface="Times New Roman"/>
              </a:rPr>
              <a:t>Chapter 3: Design Flow/Process</a:t>
            </a:r>
          </a:p>
          <a:p>
            <a:pPr marL="285750" indent="-285750">
              <a:buFont typeface="Arial"/>
              <a:buChar char="•"/>
            </a:pPr>
            <a:r>
              <a:rPr lang="en-IN" sz="2000" b="1">
                <a:latin typeface="Times New Roman"/>
                <a:cs typeface="Times New Roman"/>
              </a:rPr>
              <a:t>Chapter 4: Result Analysis And Validation</a:t>
            </a:r>
          </a:p>
          <a:p>
            <a:pPr marL="285750" indent="-285750">
              <a:buFont typeface="Arial"/>
              <a:buChar char="•"/>
            </a:pPr>
            <a:r>
              <a:rPr lang="en-IN" sz="2000" b="1">
                <a:latin typeface="Times New Roman"/>
                <a:cs typeface="Times New Roman"/>
              </a:rPr>
              <a:t>Chapter 5: Conclusion and Future Work</a:t>
            </a:r>
          </a:p>
        </p:txBody>
      </p:sp>
      <p:pic>
        <p:nvPicPr>
          <p:cNvPr id="7" name="image13.png">
            <a:extLst>
              <a:ext uri="{FF2B5EF4-FFF2-40B4-BE49-F238E27FC236}">
                <a16:creationId xmlns:a16="http://schemas.microsoft.com/office/drawing/2014/main" id="{E0D9DB11-2F4B-CEF0-99CD-F8F9D993F2CF}"/>
              </a:ext>
            </a:extLst>
          </p:cNvPr>
          <p:cNvPicPr/>
          <p:nvPr/>
        </p:nvPicPr>
        <p:blipFill>
          <a:blip r:embed="rId2"/>
          <a:srcRect l="665" t="992" r="620" b="1807"/>
          <a:stretch>
            <a:fillRect/>
          </a:stretch>
        </p:blipFill>
        <p:spPr>
          <a:xfrm>
            <a:off x="4289101" y="2119596"/>
            <a:ext cx="7401397" cy="4028262"/>
          </a:xfrm>
          <a:prstGeom prst="rect">
            <a:avLst/>
          </a:prstGeom>
          <a:ln/>
        </p:spPr>
      </p:pic>
    </p:spTree>
    <p:extLst>
      <p:ext uri="{BB962C8B-B14F-4D97-AF65-F5344CB8AC3E}">
        <p14:creationId xmlns:p14="http://schemas.microsoft.com/office/powerpoint/2010/main" val="3401012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F6F20-073F-596A-6CD9-C08AB6B6B218}"/>
              </a:ext>
            </a:extLst>
          </p:cNvPr>
          <p:cNvSpPr>
            <a:spLocks noGrp="1"/>
          </p:cNvSpPr>
          <p:nvPr>
            <p:ph type="title"/>
          </p:nvPr>
        </p:nvSpPr>
        <p:spPr>
          <a:xfrm>
            <a:off x="838200" y="139700"/>
            <a:ext cx="10515600" cy="1325563"/>
          </a:xfrm>
        </p:spPr>
        <p:txBody>
          <a:bodyPr/>
          <a:lstStyle/>
          <a:p>
            <a:pPr algn="ctr"/>
            <a:r>
              <a:rPr lang="en-US">
                <a:latin typeface="Times New Roman"/>
                <a:cs typeface="Times New Roman"/>
              </a:rPr>
              <a:t>Task Definition</a:t>
            </a:r>
            <a:endParaRPr lang="en-IN">
              <a:latin typeface="Times New Roman"/>
              <a:cs typeface="Times New Roman"/>
            </a:endParaRPr>
          </a:p>
        </p:txBody>
      </p:sp>
      <p:sp>
        <p:nvSpPr>
          <p:cNvPr id="4" name="Slide Number Placeholder 3">
            <a:extLst>
              <a:ext uri="{FF2B5EF4-FFF2-40B4-BE49-F238E27FC236}">
                <a16:creationId xmlns:a16="http://schemas.microsoft.com/office/drawing/2014/main" id="{5F3B0548-9917-56AC-550C-C5871F9A6ED9}"/>
              </a:ext>
            </a:extLst>
          </p:cNvPr>
          <p:cNvSpPr>
            <a:spLocks noGrp="1"/>
          </p:cNvSpPr>
          <p:nvPr>
            <p:ph type="sldNum" sz="quarter" idx="12"/>
          </p:nvPr>
        </p:nvSpPr>
        <p:spPr/>
        <p:txBody>
          <a:bodyPr/>
          <a:lstStyle/>
          <a:p>
            <a:fld id="{BDCDBBEF-AA6C-4BA6-85B2-A17D7F280E38}" type="slidenum">
              <a:rPr lang="en-US" smtClean="0"/>
              <a:pPr/>
              <a:t>4</a:t>
            </a:fld>
            <a:endParaRPr lang="en-US"/>
          </a:p>
        </p:txBody>
      </p:sp>
      <p:sp>
        <p:nvSpPr>
          <p:cNvPr id="6" name="TextBox 5">
            <a:extLst>
              <a:ext uri="{FF2B5EF4-FFF2-40B4-BE49-F238E27FC236}">
                <a16:creationId xmlns:a16="http://schemas.microsoft.com/office/drawing/2014/main" id="{79639222-BA45-227E-539B-5A2598FCDA55}"/>
              </a:ext>
            </a:extLst>
          </p:cNvPr>
          <p:cNvSpPr txBox="1"/>
          <p:nvPr/>
        </p:nvSpPr>
        <p:spPr>
          <a:xfrm>
            <a:off x="925901" y="1326347"/>
            <a:ext cx="9044195" cy="523220"/>
          </a:xfrm>
          <a:prstGeom prst="rect">
            <a:avLst/>
          </a:prstGeom>
          <a:noFill/>
        </p:spPr>
        <p:txBody>
          <a:bodyPr wrap="square" lIns="91440" tIns="45720" rIns="91440" bIns="45720" rtlCol="0" anchor="t">
            <a:spAutoFit/>
          </a:bodyPr>
          <a:lstStyle/>
          <a:p>
            <a:r>
              <a:rPr lang="en-IN" sz="2800" b="1">
                <a:latin typeface="Times New Roman"/>
                <a:cs typeface="Times New Roman"/>
              </a:rPr>
              <a:t>Chapter 1: Introduction to the Problem</a:t>
            </a:r>
          </a:p>
        </p:txBody>
      </p:sp>
      <p:sp>
        <p:nvSpPr>
          <p:cNvPr id="8" name="Content Placeholder 7">
            <a:extLst>
              <a:ext uri="{FF2B5EF4-FFF2-40B4-BE49-F238E27FC236}">
                <a16:creationId xmlns:a16="http://schemas.microsoft.com/office/drawing/2014/main" id="{D027FEE7-2283-F024-8CDC-9B26338666B0}"/>
              </a:ext>
            </a:extLst>
          </p:cNvPr>
          <p:cNvSpPr>
            <a:spLocks noGrp="1"/>
          </p:cNvSpPr>
          <p:nvPr>
            <p:ph idx="1"/>
          </p:nvPr>
        </p:nvSpPr>
        <p:spPr>
          <a:xfrm>
            <a:off x="838200" y="2141537"/>
            <a:ext cx="10515600" cy="4351338"/>
          </a:xfrm>
        </p:spPr>
        <p:txBody>
          <a:bodyPr vert="horz" lIns="91440" tIns="45720" rIns="91440" bIns="45720" rtlCol="0" anchor="t">
            <a:normAutofit/>
          </a:bodyPr>
          <a:lstStyle/>
          <a:p>
            <a:pPr marL="285750" indent="-285750"/>
            <a:r>
              <a:rPr lang="en-IN" sz="2000">
                <a:latin typeface="Times New Roman"/>
                <a:cs typeface="Times New Roman"/>
              </a:rPr>
              <a:t>In this phase we have identified the problem on which we have to work and found it as a major issue during the growing era of technology where data is crucial. As we need to manage the data linked to our systems as we rely mostly on our digital systems. </a:t>
            </a:r>
            <a:r>
              <a:rPr lang="en-IN" sz="2000" err="1">
                <a:latin typeface="Times New Roman"/>
                <a:cs typeface="Times New Roman"/>
              </a:rPr>
              <a:t>So</a:t>
            </a:r>
            <a:r>
              <a:rPr lang="en-IN" sz="2000">
                <a:latin typeface="Times New Roman"/>
                <a:cs typeface="Times New Roman"/>
              </a:rPr>
              <a:t> we need to manage the access of our data.</a:t>
            </a:r>
            <a:endParaRPr lang="en-IN" sz="2000">
              <a:latin typeface="Times New Roman"/>
              <a:ea typeface="Calibri"/>
              <a:cs typeface="Times New Roman"/>
            </a:endParaRPr>
          </a:p>
          <a:p>
            <a:pPr marL="285750" indent="-285750"/>
            <a:r>
              <a:rPr lang="en-IN" sz="2000">
                <a:latin typeface="Times New Roman"/>
                <a:cs typeface="Times New Roman"/>
              </a:rPr>
              <a:t>In current situation Identity and Access Management systems often treat all users as same way, applying identical authentication requirements regardless of the how much the actual risk is involved.</a:t>
            </a:r>
            <a:endParaRPr lang="en-IN" sz="2000">
              <a:latin typeface="Times New Roman"/>
              <a:ea typeface="Calibri"/>
              <a:cs typeface="Times New Roman"/>
            </a:endParaRPr>
          </a:p>
          <a:p>
            <a:pPr marL="285750" indent="-285750"/>
            <a:r>
              <a:rPr lang="en-IN" sz="2000">
                <a:latin typeface="Times New Roman"/>
                <a:cs typeface="Times New Roman"/>
              </a:rPr>
              <a:t>As a result, there is a clear need for an access control system that is intelligent, adaptive, and secure</a:t>
            </a:r>
            <a:endParaRPr lang="en-IN" sz="2000">
              <a:latin typeface="Times New Roman"/>
              <a:ea typeface="Calibri"/>
              <a:cs typeface="Times New Roman"/>
            </a:endParaRPr>
          </a:p>
        </p:txBody>
      </p:sp>
    </p:spTree>
    <p:extLst>
      <p:ext uri="{BB962C8B-B14F-4D97-AF65-F5344CB8AC3E}">
        <p14:creationId xmlns:p14="http://schemas.microsoft.com/office/powerpoint/2010/main" val="3479197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497"/>
            <a:ext cx="10515600" cy="1325563"/>
          </a:xfrm>
        </p:spPr>
        <p:txBody>
          <a:bodyPr/>
          <a:lstStyle/>
          <a:p>
            <a:pPr algn="ctr"/>
            <a:r>
              <a:rPr lang="en-US">
                <a:latin typeface="Times New Roman"/>
                <a:cs typeface="Times New Roman"/>
              </a:rPr>
              <a:t>Task Definition</a:t>
            </a:r>
          </a:p>
        </p:txBody>
      </p:sp>
      <p:sp>
        <p:nvSpPr>
          <p:cNvPr id="3" name="Content Placeholder 2"/>
          <p:cNvSpPr>
            <a:spLocks noGrp="1"/>
          </p:cNvSpPr>
          <p:nvPr>
            <p:ph idx="1"/>
          </p:nvPr>
        </p:nvSpPr>
        <p:spPr>
          <a:xfrm>
            <a:off x="838200" y="2288022"/>
            <a:ext cx="10515600" cy="3470994"/>
          </a:xfrm>
        </p:spPr>
        <p:txBody>
          <a:bodyPr vert="horz" lIns="91440" tIns="45720" rIns="91440" bIns="45720" rtlCol="0" anchor="t">
            <a:normAutofit lnSpcReduction="10000"/>
          </a:bodyPr>
          <a:lstStyle/>
          <a:p>
            <a:r>
              <a:rPr lang="en-US" sz="2000" b="1">
                <a:latin typeface="Times New Roman"/>
                <a:cs typeface="Times New Roman"/>
              </a:rPr>
              <a:t> Existing Systems</a:t>
            </a:r>
            <a:r>
              <a:rPr lang="en-US" sz="2000">
                <a:latin typeface="Times New Roman"/>
                <a:cs typeface="Times New Roman"/>
              </a:rPr>
              <a:t>:</a:t>
            </a:r>
            <a:r>
              <a:rPr lang="en-US" sz="2000">
                <a:latin typeface="Times New Roman"/>
                <a:ea typeface="+mn-lt"/>
                <a:cs typeface="Times New Roman"/>
              </a:rPr>
              <a:t> Static Authentication Mechanisms, Rule-Based Authorization Models, Centralized Identity Storage, Limited Intelligence and Automation, Uniform Security Enforcement and Manual Access Approval Workflow.</a:t>
            </a:r>
            <a:endParaRPr lang="en-US" sz="2000">
              <a:latin typeface="Times New Roman"/>
              <a:ea typeface="Calibri"/>
              <a:cs typeface="Times New Roman"/>
            </a:endParaRPr>
          </a:p>
          <a:p>
            <a:r>
              <a:rPr lang="en-US" sz="2000" b="1">
                <a:latin typeface="Times New Roman"/>
                <a:ea typeface="+mn-lt"/>
                <a:cs typeface="Times New Roman"/>
              </a:rPr>
              <a:t>Key Research: </a:t>
            </a:r>
            <a:r>
              <a:rPr lang="en-US" sz="2000" err="1">
                <a:latin typeface="Times New Roman"/>
                <a:ea typeface="+mn-lt"/>
                <a:cs typeface="Times New Roman"/>
              </a:rPr>
              <a:t>Wiefling</a:t>
            </a:r>
            <a:r>
              <a:rPr lang="en-US" sz="2000">
                <a:latin typeface="Times New Roman"/>
                <a:ea typeface="+mn-lt"/>
                <a:cs typeface="Times New Roman"/>
              </a:rPr>
              <a:t> et al. (2022) – Large-scale dataset ,</a:t>
            </a:r>
            <a:r>
              <a:rPr lang="en-US" sz="2000" err="1">
                <a:latin typeface="Times New Roman"/>
                <a:ea typeface="+mn-lt"/>
                <a:cs typeface="Times New Roman"/>
              </a:rPr>
              <a:t>RLAuth</a:t>
            </a:r>
            <a:r>
              <a:rPr lang="en-US" sz="2000">
                <a:latin typeface="Times New Roman"/>
                <a:ea typeface="+mn-lt"/>
                <a:cs typeface="Times New Roman"/>
              </a:rPr>
              <a:t> (2023) – 92.6% accuracy and F-RBA (2024) – Privacy using federated learning.</a:t>
            </a:r>
            <a:endParaRPr lang="en-US" sz="2000">
              <a:latin typeface="Times New Roman"/>
              <a:ea typeface="Calibri"/>
              <a:cs typeface="Times New Roman"/>
            </a:endParaRPr>
          </a:p>
          <a:p>
            <a:r>
              <a:rPr lang="en-US" sz="2000">
                <a:latin typeface="Times New Roman"/>
                <a:ea typeface="+mn-lt"/>
                <a:cs typeface="Times New Roman"/>
              </a:rPr>
              <a:t>Behavioral and continuous authentication (Baig &amp; Eskeland, 2021) use biometrics and sensors to verify users throughout sessions, though they raise privacy concerns.</a:t>
            </a:r>
          </a:p>
          <a:p>
            <a:r>
              <a:rPr lang="en-US" sz="2000" b="1">
                <a:latin typeface="Times New Roman"/>
                <a:ea typeface="+mn-lt"/>
                <a:cs typeface="Times New Roman"/>
              </a:rPr>
              <a:t>Human-in-the-loop approaches</a:t>
            </a:r>
            <a:r>
              <a:rPr lang="en-US" sz="2000">
                <a:latin typeface="Times New Roman"/>
                <a:ea typeface="+mn-lt"/>
                <a:cs typeface="Times New Roman"/>
              </a:rPr>
              <a:t> are emerging, where critical access decisions involve stakeholders.</a:t>
            </a:r>
            <a:br>
              <a:rPr lang="en-US" sz="2000">
                <a:latin typeface="Times New Roman"/>
                <a:ea typeface="+mn-lt"/>
                <a:cs typeface="Times New Roman"/>
              </a:rPr>
            </a:br>
            <a:r>
              <a:rPr lang="en-US" sz="2000">
                <a:latin typeface="Times New Roman"/>
                <a:ea typeface="+mn-lt"/>
                <a:cs typeface="Times New Roman"/>
              </a:rPr>
              <a:t> Although no standard architecture exists, combining AI, blockchain, and human validation shows strong potential for future systems.</a:t>
            </a:r>
            <a:endParaRPr lang="en-US" sz="2000">
              <a:latin typeface="Times New Roman"/>
              <a:ea typeface="Calibri"/>
              <a:cs typeface="Times New Roman"/>
            </a:endParaRPr>
          </a:p>
          <a:p>
            <a:endParaRPr lang="en-US" sz="2000">
              <a:latin typeface="Times New Roman"/>
              <a:ea typeface="Calibri"/>
              <a:cs typeface="Times New Roman"/>
            </a:endParaRPr>
          </a:p>
          <a:p>
            <a:endParaRPr lang="en-US" sz="2000">
              <a:latin typeface="Times New Roman"/>
              <a:ea typeface="Calibri"/>
              <a:cs typeface="Times New Roman"/>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6" name="TextBox 5">
            <a:extLst>
              <a:ext uri="{FF2B5EF4-FFF2-40B4-BE49-F238E27FC236}">
                <a16:creationId xmlns:a16="http://schemas.microsoft.com/office/drawing/2014/main" id="{33DF5EDD-1FEA-F1E1-C5EA-5C144BA650C6}"/>
              </a:ext>
            </a:extLst>
          </p:cNvPr>
          <p:cNvSpPr txBox="1"/>
          <p:nvPr/>
        </p:nvSpPr>
        <p:spPr>
          <a:xfrm>
            <a:off x="837665" y="1544128"/>
            <a:ext cx="6617831" cy="523220"/>
          </a:xfrm>
          <a:prstGeom prst="rect">
            <a:avLst/>
          </a:prstGeom>
          <a:noFill/>
        </p:spPr>
        <p:txBody>
          <a:bodyPr wrap="square" lIns="91440" tIns="45720" rIns="91440" bIns="45720" rtlCol="0" anchor="t">
            <a:spAutoFit/>
          </a:bodyPr>
          <a:lstStyle/>
          <a:p>
            <a:r>
              <a:rPr lang="en-IN" sz="2800" b="1">
                <a:latin typeface="Times New Roman"/>
                <a:cs typeface="Times New Roman"/>
              </a:rPr>
              <a:t>Chapter 2: Literature Survey</a:t>
            </a:r>
          </a:p>
        </p:txBody>
      </p:sp>
    </p:spTree>
    <p:extLst>
      <p:ext uri="{BB962C8B-B14F-4D97-AF65-F5344CB8AC3E}">
        <p14:creationId xmlns:p14="http://schemas.microsoft.com/office/powerpoint/2010/main" val="4093034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50DA7-E442-26F4-1BEF-3138549EF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8D6BA-D115-0BEB-BC76-441D57A141AD}"/>
              </a:ext>
            </a:extLst>
          </p:cNvPr>
          <p:cNvSpPr>
            <a:spLocks noGrp="1"/>
          </p:cNvSpPr>
          <p:nvPr>
            <p:ph type="title"/>
          </p:nvPr>
        </p:nvSpPr>
        <p:spPr>
          <a:xfrm>
            <a:off x="838200" y="214497"/>
            <a:ext cx="10515600" cy="1325563"/>
          </a:xfrm>
        </p:spPr>
        <p:txBody>
          <a:bodyPr/>
          <a:lstStyle/>
          <a:p>
            <a:pPr algn="ctr"/>
            <a:r>
              <a:rPr lang="en-US">
                <a:latin typeface="Times New Roman"/>
                <a:cs typeface="Times New Roman"/>
              </a:rPr>
              <a:t>Task Definition</a:t>
            </a:r>
          </a:p>
        </p:txBody>
      </p:sp>
      <p:sp>
        <p:nvSpPr>
          <p:cNvPr id="3" name="Content Placeholder 2">
            <a:extLst>
              <a:ext uri="{FF2B5EF4-FFF2-40B4-BE49-F238E27FC236}">
                <a16:creationId xmlns:a16="http://schemas.microsoft.com/office/drawing/2014/main" id="{8FE74C60-981D-DD2D-6912-04CE83E3682C}"/>
              </a:ext>
            </a:extLst>
          </p:cNvPr>
          <p:cNvSpPr>
            <a:spLocks noGrp="1"/>
          </p:cNvSpPr>
          <p:nvPr>
            <p:ph idx="1"/>
          </p:nvPr>
        </p:nvSpPr>
        <p:spPr>
          <a:xfrm>
            <a:off x="838200" y="2288022"/>
            <a:ext cx="10515599" cy="3470994"/>
          </a:xfrm>
        </p:spPr>
        <p:txBody>
          <a:bodyPr vert="horz" lIns="91440" tIns="45720" rIns="91440" bIns="45720" rtlCol="0" anchor="t">
            <a:normAutofit/>
          </a:bodyPr>
          <a:lstStyle/>
          <a:p>
            <a:pPr marL="514350" indent="-514350">
              <a:buAutoNum type="romanUcPeriod"/>
            </a:pPr>
            <a:r>
              <a:rPr lang="en-US" sz="2000">
                <a:latin typeface="Times New Roman"/>
                <a:ea typeface="Calibri"/>
                <a:cs typeface="Times New Roman"/>
              </a:rPr>
              <a:t>Machine Learning-Based Risk Scoring</a:t>
            </a:r>
          </a:p>
          <a:p>
            <a:pPr marL="514350" indent="-514350">
              <a:buAutoNum type="romanUcPeriod"/>
            </a:pPr>
            <a:r>
              <a:rPr lang="en-US" sz="2000">
                <a:latin typeface="Times New Roman"/>
                <a:ea typeface="Calibri"/>
                <a:cs typeface="Times New Roman"/>
              </a:rPr>
              <a:t>Design Constraints</a:t>
            </a:r>
          </a:p>
          <a:p>
            <a:pPr marL="514350" indent="-514350">
              <a:buAutoNum type="romanUcPeriod"/>
            </a:pPr>
            <a:r>
              <a:rPr lang="en-US" sz="2000">
                <a:latin typeface="Times New Roman"/>
                <a:ea typeface="Calibri"/>
                <a:cs typeface="Times New Roman"/>
              </a:rPr>
              <a:t>Alternative Designs</a:t>
            </a:r>
          </a:p>
          <a:p>
            <a:pPr marL="514350" indent="-514350">
              <a:buAutoNum type="romanUcPeriod"/>
            </a:pPr>
            <a:r>
              <a:rPr lang="en-US" sz="2000">
                <a:latin typeface="Times New Roman"/>
                <a:ea typeface="Calibri"/>
                <a:cs typeface="Times New Roman"/>
              </a:rPr>
              <a:t>Design Selection</a:t>
            </a:r>
          </a:p>
          <a:p>
            <a:pPr marL="0" indent="0">
              <a:buNone/>
            </a:pPr>
            <a:endParaRPr lang="en-US" sz="2000">
              <a:latin typeface="Times New Roman"/>
              <a:ea typeface="Calibri"/>
              <a:cs typeface="Times New Roman"/>
            </a:endParaRPr>
          </a:p>
          <a:p>
            <a:pPr marL="0" indent="0">
              <a:buNone/>
            </a:pPr>
            <a:r>
              <a:rPr lang="en-US" sz="2000">
                <a:latin typeface="Times New Roman"/>
                <a:ea typeface="Calibri"/>
                <a:cs typeface="Times New Roman"/>
              </a:rPr>
              <a:t>In this phase we will design the model for our proposed work and try out different design for the optimal design selection.</a:t>
            </a:r>
          </a:p>
        </p:txBody>
      </p:sp>
      <p:sp>
        <p:nvSpPr>
          <p:cNvPr id="4" name="Slide Number Placeholder 3">
            <a:extLst>
              <a:ext uri="{FF2B5EF4-FFF2-40B4-BE49-F238E27FC236}">
                <a16:creationId xmlns:a16="http://schemas.microsoft.com/office/drawing/2014/main" id="{16CA4E15-F4AA-1CEA-5088-A6AD8CFB057C}"/>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6" name="TextBox 5">
            <a:extLst>
              <a:ext uri="{FF2B5EF4-FFF2-40B4-BE49-F238E27FC236}">
                <a16:creationId xmlns:a16="http://schemas.microsoft.com/office/drawing/2014/main" id="{865843F0-9A53-9CE6-129E-3DF0C8D5E11F}"/>
              </a:ext>
            </a:extLst>
          </p:cNvPr>
          <p:cNvSpPr txBox="1"/>
          <p:nvPr/>
        </p:nvSpPr>
        <p:spPr>
          <a:xfrm>
            <a:off x="837665" y="1544128"/>
            <a:ext cx="5559006" cy="523220"/>
          </a:xfrm>
          <a:prstGeom prst="rect">
            <a:avLst/>
          </a:prstGeom>
          <a:noFill/>
        </p:spPr>
        <p:txBody>
          <a:bodyPr wrap="square" lIns="91440" tIns="45720" rIns="91440" bIns="45720" rtlCol="0" anchor="t">
            <a:spAutoFit/>
          </a:bodyPr>
          <a:lstStyle/>
          <a:p>
            <a:r>
              <a:rPr lang="en-IN" sz="2800" b="1">
                <a:latin typeface="Times New Roman"/>
                <a:cs typeface="Times New Roman"/>
              </a:rPr>
              <a:t>Chapter 3: Design Flow/Process</a:t>
            </a:r>
            <a:endParaRPr lang="en-US">
              <a:latin typeface="Times New Roman"/>
              <a:cs typeface="Times New Roman"/>
            </a:endParaRPr>
          </a:p>
        </p:txBody>
      </p:sp>
    </p:spTree>
    <p:extLst>
      <p:ext uri="{BB962C8B-B14F-4D97-AF65-F5344CB8AC3E}">
        <p14:creationId xmlns:p14="http://schemas.microsoft.com/office/powerpoint/2010/main" val="1379757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EDCC9-5B28-7541-117E-034A2760A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6C505-4E7F-6D19-40BD-965B84108899}"/>
              </a:ext>
            </a:extLst>
          </p:cNvPr>
          <p:cNvSpPr>
            <a:spLocks noGrp="1"/>
          </p:cNvSpPr>
          <p:nvPr>
            <p:ph type="title"/>
          </p:nvPr>
        </p:nvSpPr>
        <p:spPr/>
        <p:txBody>
          <a:bodyPr/>
          <a:lstStyle/>
          <a:p>
            <a:pPr algn="ctr"/>
            <a:r>
              <a:rPr lang="en-US">
                <a:latin typeface="Times New Roman"/>
                <a:cs typeface="Times New Roman"/>
              </a:rPr>
              <a:t>Task Definition</a:t>
            </a:r>
          </a:p>
        </p:txBody>
      </p:sp>
      <p:sp>
        <p:nvSpPr>
          <p:cNvPr id="3" name="Content Placeholder 2">
            <a:extLst>
              <a:ext uri="{FF2B5EF4-FFF2-40B4-BE49-F238E27FC236}">
                <a16:creationId xmlns:a16="http://schemas.microsoft.com/office/drawing/2014/main" id="{E4D269F2-E37A-5C8F-01E1-9C32D6A10EEA}"/>
              </a:ext>
            </a:extLst>
          </p:cNvPr>
          <p:cNvSpPr>
            <a:spLocks noGrp="1"/>
          </p:cNvSpPr>
          <p:nvPr>
            <p:ph idx="1"/>
          </p:nvPr>
        </p:nvSpPr>
        <p:spPr>
          <a:xfrm>
            <a:off x="838200" y="2288022"/>
            <a:ext cx="10515600" cy="3470994"/>
          </a:xfrm>
        </p:spPr>
        <p:txBody>
          <a:bodyPr vert="horz" lIns="91440" tIns="45720" rIns="91440" bIns="45720" rtlCol="0" anchor="t">
            <a:normAutofit/>
          </a:bodyPr>
          <a:lstStyle/>
          <a:p>
            <a:pPr marL="0" indent="0">
              <a:buNone/>
            </a:pPr>
            <a:endParaRPr lang="en-US" sz="1400" b="1">
              <a:latin typeface="Times New Roman"/>
              <a:ea typeface="Calibri"/>
              <a:cs typeface="Times New Roman"/>
            </a:endParaRPr>
          </a:p>
          <a:p>
            <a:pPr marL="514350" indent="-514350">
              <a:buAutoNum type="romanUcPeriod"/>
            </a:pPr>
            <a:endParaRPr lang="en-US" sz="1200" b="1">
              <a:latin typeface="Times New Roman"/>
              <a:ea typeface="Calibri"/>
              <a:cs typeface="Times New Roman"/>
            </a:endParaRPr>
          </a:p>
        </p:txBody>
      </p:sp>
      <p:sp>
        <p:nvSpPr>
          <p:cNvPr id="4" name="Slide Number Placeholder 3">
            <a:extLst>
              <a:ext uri="{FF2B5EF4-FFF2-40B4-BE49-F238E27FC236}">
                <a16:creationId xmlns:a16="http://schemas.microsoft.com/office/drawing/2014/main" id="{AA2C8A47-5D3A-D2A6-85CF-EE8247C20C35}"/>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6" name="TextBox 5">
            <a:extLst>
              <a:ext uri="{FF2B5EF4-FFF2-40B4-BE49-F238E27FC236}">
                <a16:creationId xmlns:a16="http://schemas.microsoft.com/office/drawing/2014/main" id="{8AC04FFB-D2FC-D6D2-D434-5A0FB1A9CFD3}"/>
              </a:ext>
            </a:extLst>
          </p:cNvPr>
          <p:cNvSpPr txBox="1"/>
          <p:nvPr/>
        </p:nvSpPr>
        <p:spPr>
          <a:xfrm>
            <a:off x="837665" y="1544128"/>
            <a:ext cx="7930731" cy="954107"/>
          </a:xfrm>
          <a:prstGeom prst="rect">
            <a:avLst/>
          </a:prstGeom>
          <a:noFill/>
        </p:spPr>
        <p:txBody>
          <a:bodyPr wrap="square" lIns="91440" tIns="45720" rIns="91440" bIns="45720" rtlCol="0" anchor="t">
            <a:spAutoFit/>
          </a:bodyPr>
          <a:lstStyle/>
          <a:p>
            <a:r>
              <a:rPr lang="en-IN" sz="2800" b="1">
                <a:latin typeface="Times New Roman"/>
                <a:ea typeface="Calibri"/>
                <a:cs typeface="Times New Roman"/>
              </a:rPr>
              <a:t>Chapter 4: Result Analysis And Validation</a:t>
            </a:r>
            <a:endParaRPr lang="en-US" sz="2800" b="1">
              <a:latin typeface="Times New Roman"/>
              <a:ea typeface="Calibri"/>
              <a:cs typeface="Times New Roman"/>
            </a:endParaRPr>
          </a:p>
          <a:p>
            <a:endParaRPr lang="en-IN" sz="2800" b="1">
              <a:ea typeface="Calibri"/>
              <a:cs typeface="Calibri"/>
            </a:endParaRPr>
          </a:p>
        </p:txBody>
      </p:sp>
      <p:sp>
        <p:nvSpPr>
          <p:cNvPr id="9" name="Content Placeholder 7">
            <a:extLst>
              <a:ext uri="{FF2B5EF4-FFF2-40B4-BE49-F238E27FC236}">
                <a16:creationId xmlns:a16="http://schemas.microsoft.com/office/drawing/2014/main" id="{994C62F5-216E-5A72-76F4-4CBA9FA41AC2}"/>
              </a:ext>
            </a:extLst>
          </p:cNvPr>
          <p:cNvSpPr txBox="1">
            <a:spLocks/>
          </p:cNvSpPr>
          <p:nvPr/>
        </p:nvSpPr>
        <p:spPr>
          <a:xfrm>
            <a:off x="838200" y="2141537"/>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000">
                <a:latin typeface="Times New Roman"/>
                <a:ea typeface="Calibri"/>
                <a:cs typeface="Times New Roman"/>
              </a:rPr>
              <a:t>In this phase we will analyse the result of </a:t>
            </a:r>
            <a:r>
              <a:rPr lang="en-IN" sz="2000" err="1">
                <a:latin typeface="Times New Roman"/>
                <a:ea typeface="Calibri"/>
                <a:cs typeface="Times New Roman"/>
              </a:rPr>
              <a:t>the our</a:t>
            </a:r>
            <a:r>
              <a:rPr lang="en-IN" sz="2000">
                <a:latin typeface="Times New Roman"/>
                <a:ea typeface="Calibri"/>
                <a:cs typeface="Times New Roman"/>
              </a:rPr>
              <a:t> design which we will choose from the different design. We </a:t>
            </a:r>
            <a:r>
              <a:rPr lang="en-IN" sz="2000" err="1">
                <a:latin typeface="Times New Roman"/>
                <a:ea typeface="Calibri"/>
                <a:cs typeface="Times New Roman"/>
              </a:rPr>
              <a:t>wil</a:t>
            </a:r>
            <a:r>
              <a:rPr lang="en-IN" sz="2000">
                <a:latin typeface="Times New Roman"/>
                <a:ea typeface="Calibri"/>
                <a:cs typeface="Times New Roman"/>
              </a:rPr>
              <a:t>l check different </a:t>
            </a:r>
            <a:r>
              <a:rPr lang="en-IN" sz="2000" err="1">
                <a:latin typeface="Times New Roman"/>
                <a:ea typeface="Calibri"/>
                <a:cs typeface="Times New Roman"/>
              </a:rPr>
              <a:t>meassures</a:t>
            </a:r>
            <a:r>
              <a:rPr lang="en-IN" sz="2000">
                <a:latin typeface="Times New Roman"/>
                <a:ea typeface="Calibri"/>
                <a:cs typeface="Times New Roman"/>
              </a:rPr>
              <a:t> in our proposed method such as:</a:t>
            </a:r>
          </a:p>
          <a:p>
            <a:r>
              <a:rPr lang="en-IN" sz="2000">
                <a:latin typeface="Times New Roman"/>
                <a:ea typeface="+mn-lt"/>
                <a:cs typeface="Times New Roman"/>
              </a:rPr>
              <a:t>Overall System Workflow</a:t>
            </a:r>
            <a:endParaRPr lang="en-IN" sz="2000">
              <a:latin typeface="Times New Roman"/>
              <a:ea typeface="Calibri"/>
              <a:cs typeface="Times New Roman"/>
            </a:endParaRPr>
          </a:p>
          <a:p>
            <a:r>
              <a:rPr lang="en-IN" sz="2000">
                <a:latin typeface="Times New Roman"/>
                <a:cs typeface="Times New Roman"/>
              </a:rPr>
              <a:t>Key Architectural Components</a:t>
            </a:r>
            <a:endParaRPr lang="en-IN" sz="2000">
              <a:latin typeface="Times New Roman"/>
              <a:ea typeface="Calibri"/>
              <a:cs typeface="Times New Roman"/>
            </a:endParaRPr>
          </a:p>
          <a:p>
            <a:r>
              <a:rPr lang="en-IN" sz="2000">
                <a:latin typeface="Times New Roman"/>
                <a:ea typeface="+mn-lt"/>
                <a:cs typeface="Times New Roman"/>
              </a:rPr>
              <a:t>Core Components of the System</a:t>
            </a:r>
            <a:endParaRPr lang="en-IN" sz="2000">
              <a:latin typeface="Times New Roman"/>
              <a:ea typeface="Calibri"/>
              <a:cs typeface="Times New Roman"/>
            </a:endParaRPr>
          </a:p>
          <a:p>
            <a:r>
              <a:rPr lang="en-IN" sz="2000">
                <a:latin typeface="Times New Roman"/>
                <a:ea typeface="+mn-lt"/>
                <a:cs typeface="Times New Roman"/>
              </a:rPr>
              <a:t>Design Features and Advantages</a:t>
            </a:r>
            <a:endParaRPr lang="en-IN" sz="2000">
              <a:latin typeface="Times New Roman"/>
              <a:ea typeface="Calibri"/>
              <a:cs typeface="Times New Roman"/>
            </a:endParaRPr>
          </a:p>
          <a:p>
            <a:r>
              <a:rPr lang="en-IN" sz="2000">
                <a:latin typeface="Times New Roman"/>
                <a:ea typeface="Calibri"/>
                <a:cs typeface="Times New Roman"/>
              </a:rPr>
              <a:t>Testing and Validation</a:t>
            </a:r>
          </a:p>
          <a:p>
            <a:pPr marL="514350" indent="-514350"/>
            <a:endParaRPr lang="en-IN" sz="2000">
              <a:latin typeface="Times New Roman"/>
              <a:ea typeface="Calibri"/>
              <a:cs typeface="Times New Roman"/>
            </a:endParaRPr>
          </a:p>
        </p:txBody>
      </p:sp>
    </p:spTree>
    <p:extLst>
      <p:ext uri="{BB962C8B-B14F-4D97-AF65-F5344CB8AC3E}">
        <p14:creationId xmlns:p14="http://schemas.microsoft.com/office/powerpoint/2010/main" val="3677267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231A7-2853-93BB-7C30-E9F15363E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176662-9378-E707-DC02-12BE32DC2E2B}"/>
              </a:ext>
            </a:extLst>
          </p:cNvPr>
          <p:cNvSpPr>
            <a:spLocks noGrp="1"/>
          </p:cNvSpPr>
          <p:nvPr>
            <p:ph type="title"/>
          </p:nvPr>
        </p:nvSpPr>
        <p:spPr/>
        <p:txBody>
          <a:bodyPr/>
          <a:lstStyle/>
          <a:p>
            <a:pPr algn="ctr"/>
            <a:r>
              <a:rPr lang="en-US">
                <a:latin typeface="Times New Roman"/>
                <a:cs typeface="Times New Roman"/>
              </a:rPr>
              <a:t>Task Definition</a:t>
            </a:r>
          </a:p>
        </p:txBody>
      </p:sp>
      <p:sp>
        <p:nvSpPr>
          <p:cNvPr id="3" name="Content Placeholder 2">
            <a:extLst>
              <a:ext uri="{FF2B5EF4-FFF2-40B4-BE49-F238E27FC236}">
                <a16:creationId xmlns:a16="http://schemas.microsoft.com/office/drawing/2014/main" id="{B988CC60-085A-315F-DD5D-E805F6B78567}"/>
              </a:ext>
            </a:extLst>
          </p:cNvPr>
          <p:cNvSpPr>
            <a:spLocks noGrp="1"/>
          </p:cNvSpPr>
          <p:nvPr>
            <p:ph idx="1"/>
          </p:nvPr>
        </p:nvSpPr>
        <p:spPr>
          <a:xfrm>
            <a:off x="838200" y="2288022"/>
            <a:ext cx="10515600" cy="3470994"/>
          </a:xfrm>
        </p:spPr>
        <p:txBody>
          <a:bodyPr vert="horz" lIns="91440" tIns="45720" rIns="91440" bIns="45720" rtlCol="0" anchor="t">
            <a:normAutofit/>
          </a:bodyPr>
          <a:lstStyle/>
          <a:p>
            <a:pPr marL="0" indent="0">
              <a:buNone/>
            </a:pPr>
            <a:endParaRPr lang="en-US" sz="1400" b="1">
              <a:latin typeface="Times New Roman"/>
              <a:ea typeface="Calibri"/>
              <a:cs typeface="Times New Roman"/>
            </a:endParaRPr>
          </a:p>
          <a:p>
            <a:pPr marL="514350" indent="-514350">
              <a:buAutoNum type="romanUcPeriod"/>
            </a:pPr>
            <a:endParaRPr lang="en-US" sz="1200" b="1">
              <a:latin typeface="Times New Roman"/>
              <a:ea typeface="Calibri"/>
              <a:cs typeface="Times New Roman"/>
            </a:endParaRPr>
          </a:p>
        </p:txBody>
      </p:sp>
      <p:sp>
        <p:nvSpPr>
          <p:cNvPr id="4" name="Slide Number Placeholder 3">
            <a:extLst>
              <a:ext uri="{FF2B5EF4-FFF2-40B4-BE49-F238E27FC236}">
                <a16:creationId xmlns:a16="http://schemas.microsoft.com/office/drawing/2014/main" id="{B3DD09A1-2652-E210-2796-897AD9F4A6E8}"/>
              </a:ext>
            </a:extLst>
          </p:cNvPr>
          <p:cNvSpPr>
            <a:spLocks noGrp="1"/>
          </p:cNvSpPr>
          <p:nvPr>
            <p:ph type="sldNum" sz="quarter" idx="12"/>
          </p:nvPr>
        </p:nvSpPr>
        <p:spPr/>
        <p:txBody>
          <a:bodyPr/>
          <a:lstStyle/>
          <a:p>
            <a:fld id="{BDCDBBEF-AA6C-4BA6-85B2-A17D7F280E38}" type="slidenum">
              <a:rPr lang="en-US" smtClean="0"/>
              <a:pPr/>
              <a:t>8</a:t>
            </a:fld>
            <a:endParaRPr lang="en-US"/>
          </a:p>
        </p:txBody>
      </p:sp>
      <p:sp>
        <p:nvSpPr>
          <p:cNvPr id="6" name="TextBox 5">
            <a:extLst>
              <a:ext uri="{FF2B5EF4-FFF2-40B4-BE49-F238E27FC236}">
                <a16:creationId xmlns:a16="http://schemas.microsoft.com/office/drawing/2014/main" id="{29A19A79-D0B4-A637-29D5-A413FCCF6C6D}"/>
              </a:ext>
            </a:extLst>
          </p:cNvPr>
          <p:cNvSpPr txBox="1"/>
          <p:nvPr/>
        </p:nvSpPr>
        <p:spPr>
          <a:xfrm>
            <a:off x="834120" y="1448878"/>
            <a:ext cx="7930731" cy="523220"/>
          </a:xfrm>
          <a:prstGeom prst="rect">
            <a:avLst/>
          </a:prstGeom>
          <a:noFill/>
        </p:spPr>
        <p:txBody>
          <a:bodyPr wrap="square" lIns="91440" tIns="45720" rIns="91440" bIns="45720" rtlCol="0" anchor="t">
            <a:spAutoFit/>
          </a:bodyPr>
          <a:lstStyle/>
          <a:p>
            <a:r>
              <a:rPr lang="en-IN" sz="2800" b="1">
                <a:latin typeface="Times New Roman"/>
                <a:ea typeface="Calibri"/>
                <a:cs typeface="Times New Roman"/>
              </a:rPr>
              <a:t>Chapter 5: Conclusion and Future Work</a:t>
            </a:r>
            <a:endParaRPr lang="en-US" sz="2800" b="1">
              <a:latin typeface="Times New Roman"/>
              <a:ea typeface="Calibri"/>
              <a:cs typeface="Times New Roman"/>
            </a:endParaRPr>
          </a:p>
        </p:txBody>
      </p:sp>
      <p:sp>
        <p:nvSpPr>
          <p:cNvPr id="9" name="Content Placeholder 7">
            <a:extLst>
              <a:ext uri="{FF2B5EF4-FFF2-40B4-BE49-F238E27FC236}">
                <a16:creationId xmlns:a16="http://schemas.microsoft.com/office/drawing/2014/main" id="{C795F01B-B6D3-9B61-9631-84133842ABFC}"/>
              </a:ext>
            </a:extLst>
          </p:cNvPr>
          <p:cNvSpPr txBox="1">
            <a:spLocks/>
          </p:cNvSpPr>
          <p:nvPr/>
        </p:nvSpPr>
        <p:spPr>
          <a:xfrm>
            <a:off x="837535" y="2074198"/>
            <a:ext cx="6237989" cy="437791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000">
                <a:latin typeface="Times New Roman"/>
                <a:ea typeface="Calibri"/>
                <a:cs typeface="Times New Roman"/>
              </a:rPr>
              <a:t>In this phase we will conclude all the work done by the team on the chosen design of the system and deliver the idea. And hope in future such intelligent system will play a major role in safe </a:t>
            </a:r>
            <a:r>
              <a:rPr lang="en-IN" sz="2000" err="1">
                <a:latin typeface="Times New Roman"/>
                <a:ea typeface="Calibri"/>
                <a:cs typeface="Times New Roman"/>
              </a:rPr>
              <a:t>gaurding</a:t>
            </a:r>
            <a:r>
              <a:rPr lang="en-IN" sz="2000">
                <a:latin typeface="Times New Roman"/>
                <a:ea typeface="Calibri"/>
                <a:cs typeface="Times New Roman"/>
              </a:rPr>
              <a:t> our data and offering a better Identity and access system.</a:t>
            </a:r>
          </a:p>
        </p:txBody>
      </p:sp>
    </p:spTree>
    <p:extLst>
      <p:ext uri="{BB962C8B-B14F-4D97-AF65-F5344CB8AC3E}">
        <p14:creationId xmlns:p14="http://schemas.microsoft.com/office/powerpoint/2010/main" val="3433564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Calibri Light"/>
                <a:cs typeface="Times New Roman"/>
              </a:rPr>
              <a:t>Problem Statement</a:t>
            </a:r>
            <a:endParaRPr lang="en-US">
              <a:latin typeface="Times New Roman"/>
              <a:cs typeface="Times New Roman"/>
            </a:endParaRPr>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r>
              <a:rPr lang="en-US">
                <a:latin typeface="Times New Roman"/>
                <a:ea typeface="+mn-lt"/>
                <a:cs typeface="Times New Roman"/>
              </a:rPr>
              <a:t>Currently Identity and Access Management systems often treat all users as same way, applying identical authentication requirements regardless of the how much the actual risk is involved. This approach either weakens the security or creates an unnecessary friction for users. Also, the process of providing or revoking access to sensitive information is mostly manual, time-consuming, or lacks proper transparency and accountability.</a:t>
            </a:r>
            <a:endParaRPr lang="en-US">
              <a:latin typeface="Times New Roman"/>
              <a:cs typeface="Times New Roman"/>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474965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228600" indent="-228600">
              <a:spcBef>
                <a:spcPts val="1000"/>
              </a:spcBef>
            </a:pPr>
            <a:r>
              <a:rPr lang="en-US">
                <a:latin typeface="Times New Roman"/>
                <a:ea typeface="Calibri"/>
                <a:cs typeface="Times New Roman"/>
              </a:rPr>
              <a:t>Literature Review / Background Study</a:t>
            </a:r>
          </a:p>
        </p:txBody>
      </p:sp>
      <p:sp>
        <p:nvSpPr>
          <p:cNvPr id="3" name="Content Placeholder 2"/>
          <p:cNvSpPr>
            <a:spLocks noGrp="1"/>
          </p:cNvSpPr>
          <p:nvPr>
            <p:ph idx="1"/>
          </p:nvPr>
        </p:nvSpPr>
        <p:spPr/>
        <p:txBody>
          <a:bodyPr vert="horz" lIns="91440" tIns="45720" rIns="91440" bIns="45720" rtlCol="0" anchor="t">
            <a:normAutofit/>
          </a:bodyPr>
          <a:lstStyle/>
          <a:p>
            <a:pPr marL="342900" indent="-342900"/>
            <a:r>
              <a:rPr lang="en-US" sz="2000">
                <a:latin typeface="Times New Roman"/>
                <a:ea typeface="+mn-lt"/>
                <a:cs typeface="Times New Roman"/>
              </a:rPr>
              <a:t>Adaptive, AI-driven authentication is increasingly important for securing sensitive data. Recent research focuses on </a:t>
            </a:r>
            <a:r>
              <a:rPr lang="en-US" sz="2000" b="1">
                <a:latin typeface="Times New Roman"/>
                <a:ea typeface="+mn-lt"/>
                <a:cs typeface="Times New Roman"/>
              </a:rPr>
              <a:t>Risk-Based Authentication (RBA)</a:t>
            </a:r>
            <a:r>
              <a:rPr lang="en-US" sz="2000">
                <a:latin typeface="Times New Roman"/>
                <a:ea typeface="+mn-lt"/>
                <a:cs typeface="Times New Roman"/>
              </a:rPr>
              <a:t>, which evaluates user behavior and context to generate a dynamic risk score.</a:t>
            </a:r>
          </a:p>
          <a:p>
            <a:pPr marL="342900" indent="-342900"/>
            <a:r>
              <a:rPr lang="en-US" sz="2000">
                <a:latin typeface="Times New Roman"/>
                <a:ea typeface="+mn-lt"/>
                <a:cs typeface="Times New Roman"/>
              </a:rPr>
              <a:t>Picard &amp; Pierre (2023) proposed </a:t>
            </a:r>
            <a:r>
              <a:rPr lang="en-US" sz="2000" err="1">
                <a:latin typeface="Times New Roman"/>
                <a:ea typeface="+mn-lt"/>
                <a:cs typeface="Times New Roman"/>
              </a:rPr>
              <a:t>RLAuth</a:t>
            </a:r>
            <a:r>
              <a:rPr lang="en-US" sz="2000">
                <a:latin typeface="Times New Roman"/>
                <a:ea typeface="+mn-lt"/>
                <a:cs typeface="Times New Roman"/>
              </a:rPr>
              <a:t>, a reinforcement learning-based system achieving </a:t>
            </a:r>
            <a:r>
              <a:rPr lang="en-US" sz="2000" b="1">
                <a:latin typeface="Times New Roman"/>
                <a:ea typeface="+mn-lt"/>
                <a:cs typeface="Times New Roman"/>
              </a:rPr>
              <a:t>92.6% accuracy</a:t>
            </a:r>
            <a:r>
              <a:rPr lang="en-US" sz="2000">
                <a:latin typeface="Times New Roman"/>
                <a:ea typeface="+mn-lt"/>
                <a:cs typeface="Times New Roman"/>
              </a:rPr>
              <a:t>. </a:t>
            </a:r>
            <a:r>
              <a:rPr lang="en-US" sz="2000" err="1">
                <a:latin typeface="Times New Roman"/>
                <a:ea typeface="+mn-lt"/>
                <a:cs typeface="Times New Roman"/>
              </a:rPr>
              <a:t>Fereidouni</a:t>
            </a:r>
            <a:r>
              <a:rPr lang="en-US" sz="2000">
                <a:latin typeface="Times New Roman"/>
                <a:ea typeface="+mn-lt"/>
                <a:cs typeface="Times New Roman"/>
              </a:rPr>
              <a:t> et al. (2024) introduced federated RBA, improving privacy by training models locally on devices. These works show a shift toward </a:t>
            </a:r>
            <a:r>
              <a:rPr lang="en-US" sz="2000" b="1">
                <a:latin typeface="Times New Roman"/>
                <a:ea typeface="+mn-lt"/>
                <a:cs typeface="Times New Roman"/>
              </a:rPr>
              <a:t>ML-driven adaptive authentication</a:t>
            </a:r>
            <a:r>
              <a:rPr lang="en-US" sz="2000">
                <a:latin typeface="Times New Roman"/>
                <a:ea typeface="+mn-lt"/>
                <a:cs typeface="Times New Roman"/>
              </a:rPr>
              <a:t>.</a:t>
            </a:r>
          </a:p>
          <a:p>
            <a:pPr marL="342900" indent="-342900"/>
            <a:r>
              <a:rPr lang="en-US" sz="2000">
                <a:latin typeface="Times New Roman"/>
                <a:ea typeface="+mn-lt"/>
                <a:cs typeface="Times New Roman"/>
              </a:rPr>
              <a:t>Behavioral and continuous authentication (Baig &amp; Eskeland, 2021) use biometrics and sensors to verify users throughout sessions, though they raise privacy concerns.</a:t>
            </a:r>
          </a:p>
          <a:p>
            <a:pPr marL="342900" indent="-342900"/>
            <a:r>
              <a:rPr lang="en-US" sz="2000">
                <a:latin typeface="Times New Roman"/>
                <a:ea typeface="+mn-lt"/>
                <a:cs typeface="Times New Roman"/>
              </a:rPr>
              <a:t>Blockchain-based systems enhance security through </a:t>
            </a:r>
            <a:r>
              <a:rPr lang="en-US" sz="2000" b="1">
                <a:latin typeface="Times New Roman"/>
                <a:ea typeface="+mn-lt"/>
                <a:cs typeface="Times New Roman"/>
              </a:rPr>
              <a:t>immutability and decentralization. </a:t>
            </a:r>
            <a:r>
              <a:rPr lang="en-US" sz="2000">
                <a:latin typeface="Times New Roman"/>
                <a:ea typeface="+mn-lt"/>
                <a:cs typeface="Times New Roman"/>
              </a:rPr>
              <a:t>Hu et al. (2023) used smart contracts for controlled access and audit logs. Yaqub et al. (2024) applied blockchain for secure healthcare data sharing. Tawfik et al. (2025) improved performance using Hyperledger-based framework</a:t>
            </a:r>
            <a:endParaRPr lang="en-US" sz="2000">
              <a:latin typeface="Times New Roman"/>
              <a:ea typeface="Calibri"/>
              <a:cs typeface="Times New Roman"/>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val="4003662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atin typeface="Times New Roman"/>
                <a:ea typeface="Calibri Light"/>
                <a:cs typeface="Times New Roman"/>
              </a:rPr>
              <a:t>Results Achieved So Far</a:t>
            </a:r>
            <a:endParaRPr lang="en-US">
              <a:latin typeface="Times New Roman"/>
              <a:cs typeface="Times New Roman"/>
            </a:endParaRPr>
          </a:p>
        </p:txBody>
      </p:sp>
      <p:sp>
        <p:nvSpPr>
          <p:cNvPr id="3" name="Content Placeholder 2"/>
          <p:cNvSpPr>
            <a:spLocks noGrp="1"/>
          </p:cNvSpPr>
          <p:nvPr>
            <p:ph idx="1"/>
          </p:nvPr>
        </p:nvSpPr>
        <p:spPr/>
        <p:txBody>
          <a:bodyPr vert="horz" lIns="91440" tIns="45720" rIns="91440" bIns="45720" rtlCol="0" anchor="t">
            <a:normAutofit/>
          </a:bodyPr>
          <a:lstStyle/>
          <a:p>
            <a:r>
              <a:rPr lang="en-US" dirty="0">
                <a:latin typeface="Times New Roman"/>
                <a:ea typeface="Calibri"/>
                <a:cs typeface="Times New Roman"/>
              </a:rPr>
              <a:t>We have understood the concepts which were introduced earlier and differentiated all the concepts. </a:t>
            </a:r>
          </a:p>
          <a:p>
            <a:r>
              <a:rPr lang="en-US" dirty="0">
                <a:latin typeface="Times New Roman"/>
                <a:ea typeface="Calibri"/>
                <a:cs typeface="Times New Roman"/>
              </a:rPr>
              <a:t>We have read different research papers and concluded their flaws and benefits.</a:t>
            </a:r>
          </a:p>
          <a:p>
            <a:r>
              <a:rPr lang="en-US" dirty="0">
                <a:latin typeface="Times New Roman"/>
                <a:ea typeface="Calibri"/>
                <a:cs typeface="Times New Roman"/>
              </a:rPr>
              <a:t>We started to summarize the different technologies used in the earlier system and decided to combine all the technologies together to create a optimized </a:t>
            </a:r>
            <a:r>
              <a:rPr lang="en-US" dirty="0" err="1">
                <a:latin typeface="Times New Roman"/>
                <a:ea typeface="Calibri"/>
                <a:cs typeface="Times New Roman"/>
              </a:rPr>
              <a:t>sollution</a:t>
            </a:r>
            <a:r>
              <a:rPr lang="en-US" dirty="0">
                <a:latin typeface="Times New Roman"/>
                <a:ea typeface="Calibri"/>
                <a:cs typeface="Times New Roman"/>
              </a:rPr>
              <a:t> for the </a:t>
            </a:r>
            <a:r>
              <a:rPr lang="en-US" dirty="0" err="1">
                <a:latin typeface="Times New Roman"/>
                <a:ea typeface="Calibri"/>
                <a:cs typeface="Times New Roman"/>
              </a:rPr>
              <a:t>arrised</a:t>
            </a:r>
            <a:r>
              <a:rPr lang="en-US" dirty="0">
                <a:latin typeface="Times New Roman"/>
                <a:ea typeface="Calibri"/>
                <a:cs typeface="Times New Roman"/>
              </a:rPr>
              <a:t> problem.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195242837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0</TotalTime>
  <Words>874</Words>
  <Application>Microsoft Office PowerPoint</Application>
  <PresentationFormat>Widescreen</PresentationFormat>
  <Paragraphs>76</Paragraphs>
  <Slides>11</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11</vt:i4>
      </vt:variant>
    </vt:vector>
  </HeadingPairs>
  <TitlesOfParts>
    <vt:vector size="20" baseType="lpstr">
      <vt:lpstr>Arial</vt:lpstr>
      <vt:lpstr>Calibri</vt:lpstr>
      <vt:lpstr>Calibri Light</vt:lpstr>
      <vt:lpstr>Cambria</vt:lpstr>
      <vt:lpstr>Casper</vt:lpstr>
      <vt:lpstr>Times New Roman</vt:lpstr>
      <vt:lpstr>1_Office Theme</vt:lpstr>
      <vt:lpstr>2_Office Theme</vt:lpstr>
      <vt:lpstr>Contents Slide Master</vt:lpstr>
      <vt:lpstr>PowerPoint Presentation</vt:lpstr>
      <vt:lpstr>Table Of Content</vt:lpstr>
      <vt:lpstr>Project Planning and Task Definition</vt:lpstr>
      <vt:lpstr>Task Definition</vt:lpstr>
      <vt:lpstr>Task Definition</vt:lpstr>
      <vt:lpstr>Task Definition</vt:lpstr>
      <vt:lpstr>Task Definition</vt:lpstr>
      <vt:lpstr>Task Definition</vt:lpstr>
      <vt:lpstr>Problem Statement</vt:lpstr>
      <vt:lpstr>Literature Review / Background Study</vt:lpstr>
      <vt:lpstr>Results Achieved So Far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PARTH KANSAL</cp:lastModifiedBy>
  <cp:revision>3</cp:revision>
  <dcterms:created xsi:type="dcterms:W3CDTF">2019-01-09T10:33:58Z</dcterms:created>
  <dcterms:modified xsi:type="dcterms:W3CDTF">2026-04-30T01:47:52Z</dcterms:modified>
</cp:coreProperties>
</file>