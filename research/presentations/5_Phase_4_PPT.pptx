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25"/>
  </p:notesMasterIdLst>
  <p:handoutMasterIdLst>
    <p:handoutMasterId r:id="rId26"/>
  </p:handoutMasterIdLst>
  <p:sldIdLst>
    <p:sldId id="420" r:id="rId4"/>
    <p:sldId id="399" r:id="rId5"/>
    <p:sldId id="400" r:id="rId6"/>
    <p:sldId id="409" r:id="rId7"/>
    <p:sldId id="410" r:id="rId8"/>
    <p:sldId id="401" r:id="rId9"/>
    <p:sldId id="411" r:id="rId10"/>
    <p:sldId id="402" r:id="rId11"/>
    <p:sldId id="403" r:id="rId12"/>
    <p:sldId id="412" r:id="rId13"/>
    <p:sldId id="414" r:id="rId14"/>
    <p:sldId id="415" r:id="rId15"/>
    <p:sldId id="413" r:id="rId16"/>
    <p:sldId id="416" r:id="rId17"/>
    <p:sldId id="404" r:id="rId18"/>
    <p:sldId id="417" r:id="rId19"/>
    <p:sldId id="418" r:id="rId20"/>
    <p:sldId id="405" r:id="rId21"/>
    <p:sldId id="406" r:id="rId22"/>
    <p:sldId id="407" r:id="rId23"/>
    <p:sldId id="41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99" autoAdjust="0"/>
    <p:restoredTop sz="94660" autoAdjust="0"/>
  </p:normalViewPr>
  <p:slideViewPr>
    <p:cSldViewPr snapToGrid="0">
      <p:cViewPr varScale="1">
        <p:scale>
          <a:sx n="90" d="100"/>
          <a:sy n="90" d="100"/>
        </p:scale>
        <p:origin x="72" y="1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A67B15-19D2-401D-85A4-F49BAD0C255B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1278C0C4-9AF7-409B-B16C-94C3C1F1EE65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1" i="0" u="none" strike="noStrike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Adaptive security system</a:t>
          </a:r>
          <a:r>
            <a:rPr kumimoji="0" lang="en-US" altLang="en-US" b="0" i="0" u="none" strike="noStrike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with context-aware authentication</a:t>
          </a:r>
        </a:p>
      </dgm:t>
    </dgm:pt>
    <dgm:pt modelId="{7A21E63A-3D78-43A2-AD9D-3F213590C1E0}" type="parTrans" cxnId="{741729BE-A8CE-4274-801D-29B5F8F531B8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5932B1-841C-442A-9166-C014405C7F13}" type="sibTrans" cxnId="{741729BE-A8CE-4274-801D-29B5F8F531B8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46BE81-34A4-456E-A87C-12A47028CB97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1" i="0" u="none" strike="noStrike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Scalable architecture</a:t>
          </a:r>
          <a:r>
            <a:rPr kumimoji="0" lang="en-US" altLang="en-US" b="0" i="0" u="none" strike="noStrike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suitable for large and dynamic environments</a:t>
          </a:r>
        </a:p>
      </dgm:t>
    </dgm:pt>
    <dgm:pt modelId="{965DB234-A314-4890-AF40-07A4AEAAA5E7}" type="parTrans" cxnId="{A089AC4E-324A-470D-9958-AF2AC1A924D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3DA643-A622-4BFD-A18A-C216FE78E32B}" type="sibTrans" cxnId="{A089AC4E-324A-470D-9958-AF2AC1A924D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6292DA-9326-4FE7-96E7-3B543BFB4BCB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1" i="0" u="none" strike="noStrike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Transparent and tamper-proof logging</a:t>
          </a:r>
          <a:r>
            <a:rPr kumimoji="0" lang="en-US" altLang="en-US" b="0" i="0" u="none" strike="noStrike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using blockchain</a:t>
          </a:r>
        </a:p>
      </dgm:t>
    </dgm:pt>
    <dgm:pt modelId="{9168F4E7-CCDC-4DC6-822D-54948BF22A9A}" type="parTrans" cxnId="{4B7CF0EA-E940-4DFA-8E99-E05DB965345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C2944B-06AE-4331-A1EF-1A6E84719B44}" type="sibTrans" cxnId="{4B7CF0EA-E940-4DFA-8E99-E05DB965345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AA66E5-38FF-4D31-A3E7-E73B81557D19}">
      <dgm:prSet phldrT="[Text]"/>
      <dgm:spPr/>
      <dgm:t>
        <a:bodyPr/>
        <a:lstStyle/>
        <a:p>
          <a:r>
            <a:rPr kumimoji="0" lang="en-US" altLang="en-US" b="1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Reduced human intervention</a:t>
          </a:r>
          <a:r>
            <a:rPr kumimoji="0" lang="en-US" altLang="en-US" b="0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through AI-driven automation</a:t>
          </a:r>
          <a:endParaRPr kumimoji="0" lang="en-US" altLang="en-US" b="0" i="0" u="none" strike="noStrike" cap="none" normalizeH="0" baseline="0" dirty="0">
            <a:ln/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69BA5C-416C-44D4-AC63-7F0B21A01978}" type="parTrans" cxnId="{C2F97C45-80B6-4E52-ABD7-230E8B0141B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45BFC4-2E83-4F46-A378-688030005A61}" type="sibTrans" cxnId="{C2F97C45-80B6-4E52-ABD7-230E8B0141B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2B7CA5-22E9-42DC-8319-8DCB77A576AF}" type="pres">
      <dgm:prSet presAssocID="{77A67B15-19D2-401D-85A4-F49BAD0C255B}" presName="diagram" presStyleCnt="0">
        <dgm:presLayoutVars>
          <dgm:dir/>
          <dgm:resizeHandles val="exact"/>
        </dgm:presLayoutVars>
      </dgm:prSet>
      <dgm:spPr/>
    </dgm:pt>
    <dgm:pt modelId="{905EF74B-DA46-4090-9B43-5FCCE2A59514}" type="pres">
      <dgm:prSet presAssocID="{1278C0C4-9AF7-409B-B16C-94C3C1F1EE65}" presName="node" presStyleLbl="node1" presStyleIdx="0" presStyleCnt="4">
        <dgm:presLayoutVars>
          <dgm:bulletEnabled val="1"/>
        </dgm:presLayoutVars>
      </dgm:prSet>
      <dgm:spPr/>
    </dgm:pt>
    <dgm:pt modelId="{3C14FE7C-B8E5-4485-A73A-09E26C80C981}" type="pres">
      <dgm:prSet presAssocID="{D45932B1-841C-442A-9166-C014405C7F13}" presName="sibTrans" presStyleCnt="0"/>
      <dgm:spPr/>
    </dgm:pt>
    <dgm:pt modelId="{FC9ACC3B-1FA9-4354-ABC8-6C505213B514}" type="pres">
      <dgm:prSet presAssocID="{7E46BE81-34A4-456E-A87C-12A47028CB97}" presName="node" presStyleLbl="node1" presStyleIdx="1" presStyleCnt="4">
        <dgm:presLayoutVars>
          <dgm:bulletEnabled val="1"/>
        </dgm:presLayoutVars>
      </dgm:prSet>
      <dgm:spPr/>
    </dgm:pt>
    <dgm:pt modelId="{EDAB84CA-ED74-4FAE-9B56-746FC322E91A}" type="pres">
      <dgm:prSet presAssocID="{3D3DA643-A622-4BFD-A18A-C216FE78E32B}" presName="sibTrans" presStyleCnt="0"/>
      <dgm:spPr/>
    </dgm:pt>
    <dgm:pt modelId="{A0292579-6350-4A9F-8FC8-B8BD346A4024}" type="pres">
      <dgm:prSet presAssocID="{266292DA-9326-4FE7-96E7-3B543BFB4BCB}" presName="node" presStyleLbl="node1" presStyleIdx="2" presStyleCnt="4">
        <dgm:presLayoutVars>
          <dgm:bulletEnabled val="1"/>
        </dgm:presLayoutVars>
      </dgm:prSet>
      <dgm:spPr/>
    </dgm:pt>
    <dgm:pt modelId="{64682E85-CE3E-43A8-B492-89C35FC98225}" type="pres">
      <dgm:prSet presAssocID="{82C2944B-06AE-4331-A1EF-1A6E84719B44}" presName="sibTrans" presStyleCnt="0"/>
      <dgm:spPr/>
    </dgm:pt>
    <dgm:pt modelId="{68DD8727-BD5C-4B65-B2D7-CAD84653DA8C}" type="pres">
      <dgm:prSet presAssocID="{DCAA66E5-38FF-4D31-A3E7-E73B81557D19}" presName="node" presStyleLbl="node1" presStyleIdx="3" presStyleCnt="4">
        <dgm:presLayoutVars>
          <dgm:bulletEnabled val="1"/>
        </dgm:presLayoutVars>
      </dgm:prSet>
      <dgm:spPr/>
    </dgm:pt>
  </dgm:ptLst>
  <dgm:cxnLst>
    <dgm:cxn modelId="{02573C05-8D44-4425-9933-B783452133EB}" type="presOf" srcId="{1278C0C4-9AF7-409B-B16C-94C3C1F1EE65}" destId="{905EF74B-DA46-4090-9B43-5FCCE2A59514}" srcOrd="0" destOrd="0" presId="urn:microsoft.com/office/officeart/2005/8/layout/default"/>
    <dgm:cxn modelId="{BF65C70C-E6E4-4186-86A8-BF8825EA8A3C}" type="presOf" srcId="{DCAA66E5-38FF-4D31-A3E7-E73B81557D19}" destId="{68DD8727-BD5C-4B65-B2D7-CAD84653DA8C}" srcOrd="0" destOrd="0" presId="urn:microsoft.com/office/officeart/2005/8/layout/default"/>
    <dgm:cxn modelId="{CD54E90E-5A44-483F-870C-08338D573A68}" type="presOf" srcId="{266292DA-9326-4FE7-96E7-3B543BFB4BCB}" destId="{A0292579-6350-4A9F-8FC8-B8BD346A4024}" srcOrd="0" destOrd="0" presId="urn:microsoft.com/office/officeart/2005/8/layout/default"/>
    <dgm:cxn modelId="{3B96982B-D788-4ED1-8ACA-A3E5692D215D}" type="presOf" srcId="{7E46BE81-34A4-456E-A87C-12A47028CB97}" destId="{FC9ACC3B-1FA9-4354-ABC8-6C505213B514}" srcOrd="0" destOrd="0" presId="urn:microsoft.com/office/officeart/2005/8/layout/default"/>
    <dgm:cxn modelId="{260CF435-7183-46B1-B9EE-0A6724FA32DB}" type="presOf" srcId="{77A67B15-19D2-401D-85A4-F49BAD0C255B}" destId="{9A2B7CA5-22E9-42DC-8319-8DCB77A576AF}" srcOrd="0" destOrd="0" presId="urn:microsoft.com/office/officeart/2005/8/layout/default"/>
    <dgm:cxn modelId="{C2F97C45-80B6-4E52-ABD7-230E8B0141BC}" srcId="{77A67B15-19D2-401D-85A4-F49BAD0C255B}" destId="{DCAA66E5-38FF-4D31-A3E7-E73B81557D19}" srcOrd="3" destOrd="0" parTransId="{9469BA5C-416C-44D4-AC63-7F0B21A01978}" sibTransId="{2745BFC4-2E83-4F46-A378-688030005A61}"/>
    <dgm:cxn modelId="{A089AC4E-324A-470D-9958-AF2AC1A924D4}" srcId="{77A67B15-19D2-401D-85A4-F49BAD0C255B}" destId="{7E46BE81-34A4-456E-A87C-12A47028CB97}" srcOrd="1" destOrd="0" parTransId="{965DB234-A314-4890-AF40-07A4AEAAA5E7}" sibTransId="{3D3DA643-A622-4BFD-A18A-C216FE78E32B}"/>
    <dgm:cxn modelId="{741729BE-A8CE-4274-801D-29B5F8F531B8}" srcId="{77A67B15-19D2-401D-85A4-F49BAD0C255B}" destId="{1278C0C4-9AF7-409B-B16C-94C3C1F1EE65}" srcOrd="0" destOrd="0" parTransId="{7A21E63A-3D78-43A2-AD9D-3F213590C1E0}" sibTransId="{D45932B1-841C-442A-9166-C014405C7F13}"/>
    <dgm:cxn modelId="{4B7CF0EA-E940-4DFA-8E99-E05DB9653459}" srcId="{77A67B15-19D2-401D-85A4-F49BAD0C255B}" destId="{266292DA-9326-4FE7-96E7-3B543BFB4BCB}" srcOrd="2" destOrd="0" parTransId="{9168F4E7-CCDC-4DC6-822D-54948BF22A9A}" sibTransId="{82C2944B-06AE-4331-A1EF-1A6E84719B44}"/>
    <dgm:cxn modelId="{BC65869F-4C63-46E6-BA71-713F19A66E24}" type="presParOf" srcId="{9A2B7CA5-22E9-42DC-8319-8DCB77A576AF}" destId="{905EF74B-DA46-4090-9B43-5FCCE2A59514}" srcOrd="0" destOrd="0" presId="urn:microsoft.com/office/officeart/2005/8/layout/default"/>
    <dgm:cxn modelId="{C735ECD8-3DA0-477B-ACFC-086D3CBDC6A9}" type="presParOf" srcId="{9A2B7CA5-22E9-42DC-8319-8DCB77A576AF}" destId="{3C14FE7C-B8E5-4485-A73A-09E26C80C981}" srcOrd="1" destOrd="0" presId="urn:microsoft.com/office/officeart/2005/8/layout/default"/>
    <dgm:cxn modelId="{FD68B3C1-912D-49CF-B12F-E70504EF3BE7}" type="presParOf" srcId="{9A2B7CA5-22E9-42DC-8319-8DCB77A576AF}" destId="{FC9ACC3B-1FA9-4354-ABC8-6C505213B514}" srcOrd="2" destOrd="0" presId="urn:microsoft.com/office/officeart/2005/8/layout/default"/>
    <dgm:cxn modelId="{D97219E4-1B77-428E-BB55-56E5E5FC32DA}" type="presParOf" srcId="{9A2B7CA5-22E9-42DC-8319-8DCB77A576AF}" destId="{EDAB84CA-ED74-4FAE-9B56-746FC322E91A}" srcOrd="3" destOrd="0" presId="urn:microsoft.com/office/officeart/2005/8/layout/default"/>
    <dgm:cxn modelId="{CA914B75-3F9C-4054-8FF8-C54813D3B126}" type="presParOf" srcId="{9A2B7CA5-22E9-42DC-8319-8DCB77A576AF}" destId="{A0292579-6350-4A9F-8FC8-B8BD346A4024}" srcOrd="4" destOrd="0" presId="urn:microsoft.com/office/officeart/2005/8/layout/default"/>
    <dgm:cxn modelId="{F707951F-C8FD-4BBA-B6CE-370A4A3DF630}" type="presParOf" srcId="{9A2B7CA5-22E9-42DC-8319-8DCB77A576AF}" destId="{64682E85-CE3E-43A8-B492-89C35FC98225}" srcOrd="5" destOrd="0" presId="urn:microsoft.com/office/officeart/2005/8/layout/default"/>
    <dgm:cxn modelId="{89C697D8-2AC4-44FF-92E5-41B38E7DF6A1}" type="presParOf" srcId="{9A2B7CA5-22E9-42DC-8319-8DCB77A576AF}" destId="{68DD8727-BD5C-4B65-B2D7-CAD84653DA8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EF74B-DA46-4090-9B43-5FCCE2A59514}">
      <dsp:nvSpPr>
        <dsp:cNvPr id="0" name=""/>
        <dsp:cNvSpPr/>
      </dsp:nvSpPr>
      <dsp:spPr>
        <a:xfrm>
          <a:off x="781122" y="549"/>
          <a:ext cx="3594232" cy="2156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3000" b="1" i="0" u="none" strike="noStrike" kern="1200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Adaptive security system</a:t>
          </a:r>
          <a:r>
            <a:rPr kumimoji="0" lang="en-US" altLang="en-US" sz="3000" b="0" i="0" u="none" strike="noStrike" kern="1200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with context-aware authentication</a:t>
          </a:r>
        </a:p>
      </dsp:txBody>
      <dsp:txXfrm>
        <a:off x="781122" y="549"/>
        <a:ext cx="3594232" cy="2156539"/>
      </dsp:txXfrm>
    </dsp:sp>
    <dsp:sp modelId="{FC9ACC3B-1FA9-4354-ABC8-6C505213B514}">
      <dsp:nvSpPr>
        <dsp:cNvPr id="0" name=""/>
        <dsp:cNvSpPr/>
      </dsp:nvSpPr>
      <dsp:spPr>
        <a:xfrm>
          <a:off x="4734778" y="549"/>
          <a:ext cx="3594232" cy="2156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3000" b="1" i="0" u="none" strike="noStrike" kern="1200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Scalable architecture</a:t>
          </a:r>
          <a:r>
            <a:rPr kumimoji="0" lang="en-US" altLang="en-US" sz="3000" b="0" i="0" u="none" strike="noStrike" kern="1200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suitable for large and dynamic environments</a:t>
          </a:r>
        </a:p>
      </dsp:txBody>
      <dsp:txXfrm>
        <a:off x="4734778" y="549"/>
        <a:ext cx="3594232" cy="2156539"/>
      </dsp:txXfrm>
    </dsp:sp>
    <dsp:sp modelId="{A0292579-6350-4A9F-8FC8-B8BD346A4024}">
      <dsp:nvSpPr>
        <dsp:cNvPr id="0" name=""/>
        <dsp:cNvSpPr/>
      </dsp:nvSpPr>
      <dsp:spPr>
        <a:xfrm>
          <a:off x="781122" y="2516511"/>
          <a:ext cx="3594232" cy="2156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3000" b="1" i="0" u="none" strike="noStrike" kern="1200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Transparent and tamper-proof logging</a:t>
          </a:r>
          <a:r>
            <a:rPr kumimoji="0" lang="en-US" altLang="en-US" sz="3000" b="0" i="0" u="none" strike="noStrike" kern="1200" cap="none" normalizeH="0" baseline="0" dirty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using blockchain</a:t>
          </a:r>
        </a:p>
      </dsp:txBody>
      <dsp:txXfrm>
        <a:off x="781122" y="2516511"/>
        <a:ext cx="3594232" cy="2156539"/>
      </dsp:txXfrm>
    </dsp:sp>
    <dsp:sp modelId="{68DD8727-BD5C-4B65-B2D7-CAD84653DA8C}">
      <dsp:nvSpPr>
        <dsp:cNvPr id="0" name=""/>
        <dsp:cNvSpPr/>
      </dsp:nvSpPr>
      <dsp:spPr>
        <a:xfrm>
          <a:off x="4734778" y="2516511"/>
          <a:ext cx="3594232" cy="21565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3000" b="1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Reduced human intervention</a:t>
          </a:r>
          <a:r>
            <a:rPr kumimoji="0" lang="en-US" altLang="en-US" sz="3000" b="0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through AI-driven automation</a:t>
          </a:r>
          <a:endParaRPr kumimoji="0" lang="en-US" altLang="en-US" sz="3000" b="0" i="0" u="none" strike="noStrike" kern="1200" cap="none" normalizeH="0" baseline="0" dirty="0">
            <a:ln/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34778" y="2516511"/>
        <a:ext cx="3594232" cy="2156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6923-6AE0-638B-2585-FF0E0192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4782261-D337-5865-5233-363567A657EF}"/>
              </a:ext>
            </a:extLst>
          </p:cNvPr>
          <p:cNvSpPr/>
          <p:nvPr/>
        </p:nvSpPr>
        <p:spPr>
          <a:xfrm>
            <a:off x="0" y="6053794"/>
            <a:ext cx="12192000" cy="439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71580-74A9-5202-7818-D719A351F60D}"/>
              </a:ext>
            </a:extLst>
          </p:cNvPr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425F329B-ACA1-C8F7-8F79-6CE35ACDCA5F}"/>
              </a:ext>
            </a:extLst>
          </p:cNvPr>
          <p:cNvSpPr txBox="1">
            <a:spLocks/>
          </p:cNvSpPr>
          <p:nvPr/>
        </p:nvSpPr>
        <p:spPr>
          <a:xfrm>
            <a:off x="8763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4D58E6BB-F8A8-CB66-8AC8-60C79A4D0781}"/>
              </a:ext>
            </a:extLst>
          </p:cNvPr>
          <p:cNvSpPr/>
          <p:nvPr/>
        </p:nvSpPr>
        <p:spPr>
          <a:xfrm flipV="1">
            <a:off x="9506857" y="5700394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BF777EC0-1829-196C-C6DE-B982C34669A8}"/>
              </a:ext>
            </a:extLst>
          </p:cNvPr>
          <p:cNvSpPr/>
          <p:nvPr/>
        </p:nvSpPr>
        <p:spPr>
          <a:xfrm flipH="1">
            <a:off x="7045437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3728FA9-E4CF-55A3-3BCC-A8E6BB06AD27}"/>
              </a:ext>
            </a:extLst>
          </p:cNvPr>
          <p:cNvSpPr/>
          <p:nvPr/>
        </p:nvSpPr>
        <p:spPr>
          <a:xfrm>
            <a:off x="2260122" y="1474032"/>
            <a:ext cx="7246736" cy="2624726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/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</a:rPr>
              <a:t>Computer Science Engineering </a:t>
            </a:r>
            <a:br>
              <a:rPr lang="en-US" sz="2400" b="1" dirty="0">
                <a:solidFill>
                  <a:srgbClr val="000000"/>
                </a:solidFill>
              </a:rPr>
            </a:br>
            <a:r>
              <a:rPr lang="en-US" sz="2400" b="1" dirty="0">
                <a:solidFill>
                  <a:srgbClr val="000000"/>
                </a:solidFill>
              </a:rPr>
              <a:t>Specialization in Information Security (IBM)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A5F61779-7840-E666-3A70-5111BE039E13}"/>
              </a:ext>
            </a:extLst>
          </p:cNvPr>
          <p:cNvSpPr/>
          <p:nvPr/>
        </p:nvSpPr>
        <p:spPr>
          <a:xfrm rot="10800000" flipV="1">
            <a:off x="9825377" y="52577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3F6CFC-A635-5D47-0341-C19786D40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>
              <a:latin typeface="Casper" panose="02000506000000020004" pitchFamily="2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4707E6-E786-0F43-52A2-327A2853789B}"/>
              </a:ext>
            </a:extLst>
          </p:cNvPr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A3DC08-2530-37D2-FDE1-07A049474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28F2CA-EE51-4336-A9D1-0044B63EC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412" y="443734"/>
            <a:ext cx="969666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35000"/>
              </a:spcAft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LLM-Driven Adaptive Authentication and Access Control in Zero Trust Systems Using Blockchain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849A0C6-0529-2EF4-B7A2-988DEEAE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455CE-47A9-AF2C-B028-A0BBEC2E173E}"/>
              </a:ext>
            </a:extLst>
          </p:cNvPr>
          <p:cNvSpPr txBox="1"/>
          <p:nvPr/>
        </p:nvSpPr>
        <p:spPr>
          <a:xfrm>
            <a:off x="736115" y="4317759"/>
            <a:ext cx="4098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Parth Kansal - </a:t>
            </a:r>
            <a:r>
              <a:rPr lang="en-IN" sz="2000" dirty="0"/>
              <a:t>23BIS70035</a:t>
            </a:r>
            <a:br>
              <a:rPr lang="en-US" sz="2000" dirty="0"/>
            </a:br>
            <a:r>
              <a:rPr lang="en-US" sz="2000" dirty="0"/>
              <a:t>Anshul Sharma - </a:t>
            </a:r>
            <a:r>
              <a:rPr lang="en-IN" sz="2000" dirty="0"/>
              <a:t>23BIS70073</a:t>
            </a:r>
            <a:br>
              <a:rPr lang="en-US" sz="2000" dirty="0"/>
            </a:br>
            <a:r>
              <a:rPr lang="en-US" sz="2000" dirty="0"/>
              <a:t>Vireshwar Singh Tomar - </a:t>
            </a:r>
            <a:r>
              <a:rPr lang="en-IN" sz="2000" dirty="0"/>
              <a:t>23BIS70081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5F573-C18A-B0FF-BFA1-F75FDC47F3AE}"/>
              </a:ext>
            </a:extLst>
          </p:cNvPr>
          <p:cNvSpPr txBox="1"/>
          <p:nvPr/>
        </p:nvSpPr>
        <p:spPr>
          <a:xfrm>
            <a:off x="8041782" y="4271593"/>
            <a:ext cx="29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Ms. Sidrah Fayaz Wani</a:t>
            </a:r>
          </a:p>
        </p:txBody>
      </p:sp>
    </p:spTree>
    <p:extLst>
      <p:ext uri="{BB962C8B-B14F-4D97-AF65-F5344CB8AC3E}">
        <p14:creationId xmlns:p14="http://schemas.microsoft.com/office/powerpoint/2010/main" val="2871233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ECB4CD0-4FFF-F683-C0E8-341FD3B463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8267" y="1524258"/>
            <a:ext cx="682372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Problem Formulation &amp; Motivation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Objectives of the Work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Overview &amp; Architecture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Methodology &amp; Workflow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Risk Assessment &amp; Blockchain Integration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Results &amp; System Output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Advantages of the Proposed System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Conclusion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Future Scope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References </a:t>
            </a:r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365"/>
            <a:ext cx="5800000" cy="46672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Rapid rise in </a:t>
            </a:r>
            <a:r>
              <a:rPr lang="en-US" b="1" dirty="0"/>
              <a:t>cyber threats and sophisticated attacks</a:t>
            </a:r>
            <a:r>
              <a:rPr lang="en-US" dirty="0"/>
              <a:t> demands advanced security models </a:t>
            </a:r>
          </a:p>
          <a:p>
            <a:pPr>
              <a:lnSpc>
                <a:spcPct val="120000"/>
              </a:lnSpc>
            </a:pPr>
            <a:r>
              <a:rPr lang="en-US" dirty="0"/>
              <a:t>Traditional authentication mechanisms are </a:t>
            </a:r>
            <a:r>
              <a:rPr lang="en-US" b="1" dirty="0"/>
              <a:t>static, rule-based, and easily exploitable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US" dirty="0"/>
              <a:t>Organizations require a </a:t>
            </a:r>
            <a:r>
              <a:rPr lang="en-US" b="1" dirty="0"/>
              <a:t>dynamic, context-aware security framework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US" dirty="0"/>
              <a:t>Adoption of </a:t>
            </a:r>
            <a:r>
              <a:rPr lang="en-US" b="1" dirty="0"/>
              <a:t>Zero Trust Architecture (ZTA)</a:t>
            </a:r>
            <a:r>
              <a:rPr lang="en-US" dirty="0"/>
              <a:t> ensures continuous verification </a:t>
            </a:r>
          </a:p>
          <a:p>
            <a:pPr>
              <a:lnSpc>
                <a:spcPct val="120000"/>
              </a:lnSpc>
            </a:pPr>
            <a:r>
              <a:rPr lang="en-US" b="1" dirty="0"/>
              <a:t>No user or device is inherently trusted</a:t>
            </a:r>
            <a:r>
              <a:rPr lang="en-US" dirty="0"/>
              <a:t>, regardless of network location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" name="Picture ZT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t="16667" b="16667"/>
          <a:stretch>
            <a:fillRect/>
          </a:stretch>
        </p:blipFill>
        <p:spPr>
          <a:xfrm>
            <a:off x="6546000" y="1315615"/>
            <a:ext cx="4900000" cy="4900000"/>
          </a:xfrm>
          <a:prstGeom prst="roundRect">
            <a:avLst>
              <a:gd name="adj" fmla="val 6300"/>
            </a:avLst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37FEA-5BC0-846B-5597-CCAD4224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9CD7-9F88-22CA-3CA2-D431506E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2108-30A6-EF33-A4E6-F394F1A2A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612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Large Language Models (LLMs), Blockchain, and Adaptive Authentication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context aware and risk based access decisions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real-time evaluation of user behavior and system context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automation of authentication and authorization processes 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 balance between strong security and seamless user experience.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0ACF5-78E5-EADE-3979-EE202EDF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9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36C5-CB99-0013-2327-2BE6CE8B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73CD-58B3-9BE0-3E8A-8D9CB968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Approach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AA9E5-C2CC-3FC0-7102-C0C93BD1D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MFA mechanisms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and context-unaware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approval processes introduce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and inefficiencies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visibility leads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transparency in access control logs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systems are prone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 and manipulation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Faster, real-time access decisions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Context-aware, risk-based authentication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 Proof auditing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Secure and transparent activity tracking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B4CF9-98EB-D62E-C3B4-77A01400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1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E0EA847-8829-85FE-A189-3779F3A46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92124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mechanisms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and uniform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ignoring user context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risk assessment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leads to ineffective security decisions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identity management creates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point of failure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audit mechanisms result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traceability and accountability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3018-73B3-1DDB-612B-554B20D0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D75A-FEF6-3684-16D9-CECD195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E13F8-C656-57D7-5EAA-31A9B6BD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1B93312-157F-5D2E-68E3-672C46009B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236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secure and efficient access control system remains a significant challenge due to the limitations of traditional approaches. There is a need to 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dynamic, context-aware authentication mechanism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adapt to user behavior and risk levels in real time. Additionally, enabling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and automated decision making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tamper-proof logging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eliminating centralized vulnerabilities are critical requirements. The key challenge is to achieve all of this while maintaining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and user-friendly experience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590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F0ED7D1-A68B-8FCD-6462-6A5D112A1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2812"/>
            <a:ext cx="105156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risk-based adaptive authentication system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security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 access decision-making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Multi-Factor Authentication (MFA)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real-time risk levels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secure and decentralized identity management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access control and auditing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security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against evolving threats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large-scale deployment</a:t>
            </a:r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82E49F7-9435-A722-8489-6FEA2D3E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0725"/>
            <a:ext cx="10104699" cy="530558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B77B0C6-AB4A-5F7D-DB5A-7C0DA277B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29000"/>
            <a:ext cx="610082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initiates an access request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Engine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evaluates contextual and behavioral parameters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MFA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applied based on computed risk level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performs intelligent access decision-making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securely records all identity and access events </a:t>
            </a:r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58C8-538A-1342-DA07-F9021CD7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E92E-F8AE-2B1D-1086-B85B267F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860A6-01C8-A982-2182-718BFDF8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C8668C-DD5F-16BC-BCBE-B93CEE97CE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177" y="1469089"/>
            <a:ext cx="9752635" cy="2433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200" b="1" dirty="0"/>
              <a:t>User Identity Module: U</a:t>
            </a:r>
            <a:r>
              <a:rPr lang="en-IN" sz="2200" dirty="0"/>
              <a:t>ser registration/Login and digital identity creation </a:t>
            </a:r>
          </a:p>
          <a:p>
            <a:r>
              <a:rPr lang="en-IN" sz="2200" b="1" dirty="0"/>
              <a:t>Risk Assessment Engine: </a:t>
            </a:r>
            <a:r>
              <a:rPr lang="en-IN" sz="2200" dirty="0"/>
              <a:t>Evaluates parameters to compute risk </a:t>
            </a:r>
          </a:p>
          <a:p>
            <a:r>
              <a:rPr lang="en-IN" sz="2200" b="1" dirty="0"/>
              <a:t>Adaptive MFA System: </a:t>
            </a:r>
            <a:r>
              <a:rPr lang="en-IN" sz="2200" dirty="0"/>
              <a:t>Dynamically adjusts authentication factors based on risk level </a:t>
            </a:r>
          </a:p>
          <a:p>
            <a:r>
              <a:rPr lang="en-IN" sz="2200" b="1" dirty="0"/>
              <a:t>LLM Decision Module: </a:t>
            </a:r>
            <a:r>
              <a:rPr lang="en-IN" sz="2200" dirty="0"/>
              <a:t>Performs intelligent analysis for access control decisions </a:t>
            </a:r>
          </a:p>
          <a:p>
            <a:r>
              <a:rPr lang="en-IN" sz="2200" b="1" dirty="0"/>
              <a:t>Blockchain Ledger: </a:t>
            </a:r>
            <a:r>
              <a:rPr lang="en-IN" sz="2200" dirty="0"/>
              <a:t>Stores identity and access logs in a secure, immutable manner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A20B4-A878-7413-95D0-B2EF05C7DF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1" y="4502430"/>
            <a:ext cx="10891777" cy="100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79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396F0-CBF7-33B0-D5E8-63C13687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3090A-835C-7CD5-200B-19B0B08E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7265C3F-4FBB-384A-DB0F-E824D68063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4405132" cy="415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User initiates a </a:t>
            </a:r>
            <a:r>
              <a:rPr lang="en-US" sz="2400" b="1" dirty="0"/>
              <a:t>login or access request</a:t>
            </a:r>
            <a:r>
              <a:rPr lang="en-US" sz="2400" dirty="0"/>
              <a:t> </a:t>
            </a:r>
          </a:p>
          <a:p>
            <a:r>
              <a:rPr lang="en-US" sz="2400" dirty="0"/>
              <a:t>System collects </a:t>
            </a:r>
            <a:r>
              <a:rPr lang="en-US" sz="2400" b="1" dirty="0"/>
              <a:t>contextual data</a:t>
            </a:r>
            <a:r>
              <a:rPr lang="en-US" sz="2400" dirty="0"/>
              <a:t>, including: </a:t>
            </a:r>
          </a:p>
          <a:p>
            <a:pPr lvl="1"/>
            <a:r>
              <a:rPr lang="en-US" sz="2000" dirty="0"/>
              <a:t>Device information </a:t>
            </a:r>
          </a:p>
          <a:p>
            <a:pPr lvl="1"/>
            <a:r>
              <a:rPr lang="en-US" sz="2000" dirty="0"/>
              <a:t>Geographical location </a:t>
            </a:r>
          </a:p>
          <a:p>
            <a:pPr lvl="1"/>
            <a:r>
              <a:rPr lang="en-US" sz="2000" dirty="0"/>
              <a:t>Time of access </a:t>
            </a:r>
          </a:p>
          <a:p>
            <a:r>
              <a:rPr lang="en-US" sz="2400" b="1" dirty="0"/>
              <a:t>Risk Assessment Engine</a:t>
            </a:r>
            <a:r>
              <a:rPr lang="en-US" sz="2400" dirty="0"/>
              <a:t> computes a real-time risk score </a:t>
            </a:r>
          </a:p>
          <a:p>
            <a:r>
              <a:rPr lang="en-US" sz="2400" b="1" dirty="0"/>
              <a:t>Adaptive MFA</a:t>
            </a:r>
            <a:r>
              <a:rPr lang="en-US" sz="2400" dirty="0"/>
              <a:t> is applied based on the calculated risk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E82AC-090F-9D38-A37F-4111446565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628" y="365125"/>
            <a:ext cx="5687944" cy="6127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D14A35-4AD5-58B4-E5DE-D969F326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Workflow</a:t>
            </a:r>
          </a:p>
        </p:txBody>
      </p:sp>
    </p:spTree>
    <p:extLst>
      <p:ext uri="{BB962C8B-B14F-4D97-AF65-F5344CB8AC3E}">
        <p14:creationId xmlns:p14="http://schemas.microsoft.com/office/powerpoint/2010/main" val="1418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8797E-045C-41B1-93CA-42241229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E9185-16C2-A476-8C1E-34A4464E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489A-9041-EE03-AD3F-F574DC9B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Parameters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307024D-1AD4-E8E2-73AB-0BE860F77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952850"/>
              </p:ext>
            </p:extLst>
          </p:nvPr>
        </p:nvGraphicFramePr>
        <p:xfrm>
          <a:off x="838201" y="2057400"/>
          <a:ext cx="84328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97890">
                  <a:extLst>
                    <a:ext uri="{9D8B030D-6E8A-4147-A177-3AD203B41FA5}">
                      <a16:colId xmlns:a16="http://schemas.microsoft.com/office/drawing/2014/main" val="3058200148"/>
                    </a:ext>
                  </a:extLst>
                </a:gridCol>
                <a:gridCol w="5634910">
                  <a:extLst>
                    <a:ext uri="{9D8B030D-6E8A-4147-A177-3AD203B41FA5}">
                      <a16:colId xmlns:a16="http://schemas.microsoft.com/office/drawing/2014/main" val="682254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16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frequency, usage patterns, anomalies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528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type, fingerprint, trust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79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&amp;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Geographic location and access timing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79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 access records and suspicious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229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Importance and classification of requested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603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005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968B-3213-9C79-E78D-E7713806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0FB3D-638B-1074-B058-4195454B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33DC287-6360-3F45-BDE7-86585FF317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6259"/>
            <a:ext cx="4405132" cy="433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User submits </a:t>
            </a:r>
            <a:r>
              <a:rPr lang="en-US" sz="2400" b="1" dirty="0"/>
              <a:t>access request with justification</a:t>
            </a:r>
            <a:r>
              <a:rPr lang="en-US" sz="2400" dirty="0"/>
              <a:t> </a:t>
            </a:r>
          </a:p>
          <a:p>
            <a:r>
              <a:rPr lang="en-US" sz="2400" dirty="0"/>
              <a:t>System performs </a:t>
            </a:r>
            <a:r>
              <a:rPr lang="en-US" sz="2400" b="1" dirty="0"/>
              <a:t>AI-based validation</a:t>
            </a:r>
            <a:r>
              <a:rPr lang="en-US" sz="2400" dirty="0"/>
              <a:t> (risk + reason) </a:t>
            </a:r>
          </a:p>
          <a:p>
            <a:r>
              <a:rPr lang="en-US" sz="2400" dirty="0"/>
              <a:t>Decision: </a:t>
            </a:r>
          </a:p>
          <a:p>
            <a:pPr lvl="1"/>
            <a:r>
              <a:rPr lang="en-US" sz="2000" b="1" dirty="0"/>
              <a:t>Low risk → Direct access</a:t>
            </a:r>
            <a:r>
              <a:rPr lang="en-US" sz="2000" dirty="0"/>
              <a:t> </a:t>
            </a:r>
          </a:p>
          <a:p>
            <a:pPr lvl="1"/>
            <a:r>
              <a:rPr lang="en-US" sz="2000" b="1" dirty="0"/>
              <a:t>High risk → Reviewer approval (LLM-assisted)</a:t>
            </a:r>
            <a:r>
              <a:rPr lang="en-US" sz="2000" dirty="0"/>
              <a:t> </a:t>
            </a:r>
          </a:p>
          <a:p>
            <a:r>
              <a:rPr lang="en-US" sz="2400" dirty="0"/>
              <a:t>Final outcome: </a:t>
            </a:r>
            <a:r>
              <a:rPr lang="en-US" sz="2400" b="1" dirty="0"/>
              <a:t>Approve / Deny</a:t>
            </a:r>
            <a:r>
              <a:rPr lang="en-US" sz="2400" dirty="0"/>
              <a:t> </a:t>
            </a:r>
          </a:p>
          <a:p>
            <a:r>
              <a:rPr lang="en-US" sz="2400" dirty="0"/>
              <a:t>All actions recorded on </a:t>
            </a:r>
            <a:r>
              <a:rPr lang="en-US" sz="2400" b="1" dirty="0"/>
              <a:t>blockchain for audit</a:t>
            </a:r>
            <a:r>
              <a:rPr lang="en-US" sz="240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8E1C0-1D19-9D1D-92CC-8D4E2D416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Workflow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D8A887-E4E8-B910-CD22-93C8985790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4" b="4614"/>
          <a:stretch>
            <a:fillRect/>
          </a:stretch>
        </p:blipFill>
        <p:spPr>
          <a:xfrm>
            <a:off x="6574420" y="322216"/>
            <a:ext cx="4929851" cy="639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1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B877-6757-4BBD-310E-374CF1CC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2EC54-702F-B3E1-E4D5-3A6654BE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ED2759-AE96-B78B-D36A-8048D74066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856887"/>
            <a:ext cx="6163733" cy="392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Ensures </a:t>
            </a:r>
            <a:r>
              <a:rPr lang="en-US" sz="2400" b="1" dirty="0"/>
              <a:t>immutable and tamper-proof storage</a:t>
            </a:r>
            <a:r>
              <a:rPr lang="en-US" sz="2400" dirty="0"/>
              <a:t> of access records </a:t>
            </a:r>
          </a:p>
          <a:p>
            <a:r>
              <a:rPr lang="en-US" sz="2400" dirty="0"/>
              <a:t>Provides </a:t>
            </a:r>
            <a:r>
              <a:rPr lang="en-US" sz="2400" b="1" dirty="0"/>
              <a:t>decentralized identity management</a:t>
            </a:r>
            <a:r>
              <a:rPr lang="en-US" sz="2400" dirty="0"/>
              <a:t> (no single point of failure) </a:t>
            </a:r>
          </a:p>
          <a:p>
            <a:r>
              <a:rPr lang="en-US" sz="2400" dirty="0"/>
              <a:t>Maintains </a:t>
            </a:r>
            <a:r>
              <a:rPr lang="en-US" sz="2400" b="1" dirty="0"/>
              <a:t>transparent audit logs</a:t>
            </a:r>
            <a:r>
              <a:rPr lang="en-US" sz="2400" dirty="0"/>
              <a:t> for all access activities </a:t>
            </a:r>
          </a:p>
          <a:p>
            <a:r>
              <a:rPr lang="en-US" sz="2400" dirty="0"/>
              <a:t>Enables </a:t>
            </a:r>
            <a:r>
              <a:rPr lang="en-US" sz="2400" b="1" dirty="0"/>
              <a:t>non-repudiation</a:t>
            </a:r>
            <a:r>
              <a:rPr lang="en-US" sz="2400" dirty="0"/>
              <a:t> (users cannot deny actions) </a:t>
            </a:r>
          </a:p>
          <a:p>
            <a:r>
              <a:rPr lang="en-US" sz="2400" dirty="0"/>
              <a:t>Uses </a:t>
            </a:r>
            <a:r>
              <a:rPr lang="en-US" sz="2400" b="1" dirty="0"/>
              <a:t>smart contracts</a:t>
            </a:r>
            <a:r>
              <a:rPr lang="en-US" sz="2400" dirty="0"/>
              <a:t> for automated access control (scope &amp; duration)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DCBC9-F884-D77B-4BC8-79707156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Blockchain Integration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BE956B-9774-9E88-796B-6786C38FF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997" y="914400"/>
            <a:ext cx="2441809" cy="5029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1493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D9CF1E-CF72-4148-F085-65792E7B07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1" y="1889608"/>
            <a:ext cx="297179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risk-based authentication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reduction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attempts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efficient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adaptive authentication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 blockchain-based logging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850459-733B-C6D0-E7E5-A6FF61045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31521"/>
              </p:ext>
            </p:extLst>
          </p:nvPr>
        </p:nvGraphicFramePr>
        <p:xfrm>
          <a:off x="838200" y="1619247"/>
          <a:ext cx="6722534" cy="4511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61267">
                  <a:extLst>
                    <a:ext uri="{9D8B030D-6E8A-4147-A177-3AD203B41FA5}">
                      <a16:colId xmlns:a16="http://schemas.microsoft.com/office/drawing/2014/main" val="2738094393"/>
                    </a:ext>
                  </a:extLst>
                </a:gridCol>
                <a:gridCol w="3361267">
                  <a:extLst>
                    <a:ext uri="{9D8B030D-6E8A-4147-A177-3AD203B41FA5}">
                      <a16:colId xmlns:a16="http://schemas.microsoft.com/office/drawing/2014/main" val="37630074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Traditional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Proposed System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542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Static, one-size-fits-all security approach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Adaptive, context-aware security that adjusts based on risk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962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Slow and manual decision-making processes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Real-time, AI-driven intelligent decision making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09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Limited and insecure logging mechanisms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Secure, transparent, and tamper-proof blockchain audit logs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83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Centralized systems with single point of failure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Decentralized architecture ensuring higher reliability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333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Fixed authentication methods (basic MFA)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Dynamic, risk-based multi-factor authentication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127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8C76-2C1E-8A70-1FF7-769CF3BC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754F-921B-6E23-D3B7-F21E85A1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819CD-82E1-847B-885E-7A5A4B3A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C9842D-2AA5-C4C4-E036-0F87CB1557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759655"/>
            <a:ext cx="7958666" cy="4483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authentication flow with dynamic security levels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access approvals using AI-driven decision-making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immutable audit trail via blockchain integration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response to access requests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visibility and control over system access activities </a:t>
            </a:r>
          </a:p>
        </p:txBody>
      </p:sp>
    </p:spTree>
    <p:extLst>
      <p:ext uri="{BB962C8B-B14F-4D97-AF65-F5344CB8AC3E}">
        <p14:creationId xmlns:p14="http://schemas.microsoft.com/office/powerpoint/2010/main" val="244451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0183-D889-8B13-F065-C24812DC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39A7-8673-E374-0284-FF7EF070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BBC60-D614-606A-A787-46BE3D02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0D82405-8E16-C43B-3B29-F4C2D7292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1178278"/>
              </p:ext>
            </p:extLst>
          </p:nvPr>
        </p:nvGraphicFramePr>
        <p:xfrm>
          <a:off x="1540933" y="1538816"/>
          <a:ext cx="9110133" cy="46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1520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system enhances </a:t>
            </a:r>
            <a:r>
              <a:rPr lang="en-US" b="1" dirty="0"/>
              <a:t>Zero Trust security</a:t>
            </a:r>
            <a:r>
              <a:rPr lang="en-US" dirty="0"/>
              <a:t> through continuous verification </a:t>
            </a:r>
          </a:p>
          <a:p>
            <a:r>
              <a:rPr lang="en-US" dirty="0"/>
              <a:t>Integrates </a:t>
            </a:r>
            <a:r>
              <a:rPr lang="en-US" b="1" dirty="0"/>
              <a:t>AI-driven intelligence (LLMs)</a:t>
            </a:r>
            <a:r>
              <a:rPr lang="en-US" dirty="0"/>
              <a:t> with </a:t>
            </a:r>
            <a:r>
              <a:rPr lang="en-US" b="1" dirty="0"/>
              <a:t>blockchain-based trust</a:t>
            </a:r>
            <a:r>
              <a:rPr lang="en-US" dirty="0"/>
              <a:t> </a:t>
            </a:r>
          </a:p>
          <a:p>
            <a:r>
              <a:rPr lang="en-US" dirty="0"/>
              <a:t>Enables </a:t>
            </a:r>
            <a:r>
              <a:rPr lang="en-US" b="1" dirty="0"/>
              <a:t>dynamic, risk-based authentication</a:t>
            </a:r>
            <a:r>
              <a:rPr lang="en-US" dirty="0"/>
              <a:t> for stronger protection </a:t>
            </a:r>
          </a:p>
          <a:p>
            <a:r>
              <a:rPr lang="en-US" dirty="0"/>
              <a:t>Ensures </a:t>
            </a:r>
            <a:r>
              <a:rPr lang="en-US" b="1" dirty="0"/>
              <a:t>transparent and tamper-proof auditing</a:t>
            </a:r>
            <a:r>
              <a:rPr lang="en-US" dirty="0"/>
              <a:t> of all access activities </a:t>
            </a:r>
          </a:p>
          <a:p>
            <a:r>
              <a:rPr lang="en-US" dirty="0"/>
              <a:t>Achieves a balance between </a:t>
            </a:r>
            <a:r>
              <a:rPr lang="en-US" b="1" dirty="0"/>
              <a:t>high security and seamless user experience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D5E317-9FBA-051A-76F1-47BD07177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7526"/>
            <a:ext cx="7433733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real-world deployment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proposed system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IAM solutions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practical validation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LLMs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enhance decision-making accuracy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anomaly detection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proactive security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identity federation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Exploration of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quantum-resistant blockchain mechanisms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600" dirty="0"/>
              <a:t>[1] R. S. Sandhu, E. J. Coyne, H. L. Feinstein, and C. E. Youman, “Role-based access control models,” IEEE Computer, vol. 29, no. 2, pp. 38–47, 1996.</a:t>
            </a:r>
          </a:p>
          <a:p>
            <a:r>
              <a:rPr lang="en-IN" sz="1600" dirty="0"/>
              <a:t>[2] V. C. Hu, D. Ferraiolo, and D. Kuhn, “Assessment of access control systems,” NIST Interagency Report 7316, 2017.</a:t>
            </a:r>
          </a:p>
          <a:p>
            <a:r>
              <a:rPr lang="en-IN" sz="1600" dirty="0"/>
              <a:t>[3] S. Wiefling, M. </a:t>
            </a:r>
            <a:r>
              <a:rPr lang="en-IN" sz="1600" dirty="0" err="1"/>
              <a:t>Dürmuth</a:t>
            </a:r>
            <a:r>
              <a:rPr lang="en-IN" sz="1600" dirty="0"/>
              <a:t>, and L. Lo Iacono, “Pump up password security! Evaluating and enhancing risk-based authentication on a real-world large-scale online service,” ACM Trans. Privacy Security, 2022.</a:t>
            </a:r>
          </a:p>
          <a:p>
            <a:r>
              <a:rPr lang="en-IN" sz="1600" dirty="0"/>
              <a:t>[4] M. </a:t>
            </a:r>
            <a:r>
              <a:rPr lang="en-IN" sz="1600" dirty="0" err="1"/>
              <a:t>Zyskind</a:t>
            </a:r>
            <a:r>
              <a:rPr lang="en-IN" sz="1600" dirty="0"/>
              <a:t>, O. Nathan, and A. Pentland, “Decentralizing privacy: Using blockchain to protect personal data,” in Proc. IEEE S&amp;P Workshops, 2015, pp. 180–184.</a:t>
            </a:r>
          </a:p>
          <a:p>
            <a:r>
              <a:rPr lang="en-IN" sz="1600" dirty="0"/>
              <a:t>[5] Y. Liu, K. Wang, Y. Lin, and W. Xu, “Blockchain-based identity management systems: A survey,” J. Network </a:t>
            </a:r>
            <a:r>
              <a:rPr lang="en-IN" sz="1600" dirty="0" err="1"/>
              <a:t>Comput</a:t>
            </a:r>
            <a:r>
              <a:rPr lang="en-IN" sz="1600" dirty="0"/>
              <a:t>. Appl., vol. 166, 2020.</a:t>
            </a:r>
          </a:p>
          <a:p>
            <a:r>
              <a:rPr lang="en-IN" sz="1600" dirty="0"/>
              <a:t>[6] K. Sharma and R. Gupta, “Adaptive multi-factor authentication for secure systems,” </a:t>
            </a:r>
            <a:r>
              <a:rPr lang="en-IN" sz="1600" dirty="0" err="1"/>
              <a:t>Comput</a:t>
            </a:r>
            <a:r>
              <a:rPr lang="en-IN" sz="1600" dirty="0"/>
              <a:t>. Security, vol. 108, 2022.</a:t>
            </a:r>
          </a:p>
          <a:p>
            <a:r>
              <a:rPr lang="en-IN" sz="1600" dirty="0"/>
              <a:t>[7] S. Rose, O. Borchert, S. Mitchell, and S. Connelly, “Zero trust architecture,” NIST SP 800-207, 2020.</a:t>
            </a:r>
          </a:p>
          <a:p>
            <a:r>
              <a:rPr lang="en-IN" sz="1600" dirty="0"/>
              <a:t>[8] S. Wiefling et al., “RBA login dataset,” GitHub, 2022. [Online]. Available: https://github.com/das-group/rba-dataset</a:t>
            </a:r>
          </a:p>
          <a:p>
            <a:r>
              <a:rPr lang="en-IN" sz="1600" dirty="0"/>
              <a:t>[9] G. Picard and S. Pierre, “</a:t>
            </a:r>
            <a:r>
              <a:rPr lang="en-IN" sz="1600" dirty="0" err="1"/>
              <a:t>RLAuth</a:t>
            </a:r>
            <a:r>
              <a:rPr lang="en-IN" sz="1600" dirty="0"/>
              <a:t>: A risk-based authentication system using reinforcement learning,” IEEE Access,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69864-4D24-3962-FC78-22FBF624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9A48-F1BA-8871-921B-527D8CCE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3F354-5040-2FD6-318A-DA8121422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159"/>
            <a:ext cx="10515600" cy="4929716"/>
          </a:xfrm>
        </p:spPr>
        <p:txBody>
          <a:bodyPr>
            <a:noAutofit/>
          </a:bodyPr>
          <a:lstStyle/>
          <a:p>
            <a:r>
              <a:rPr lang="en-IN" sz="1600" dirty="0"/>
              <a:t>[10] H. Fereidouni et al., “F-RBA: A federated learning-based framework for risk-based authentication,” </a:t>
            </a:r>
            <a:r>
              <a:rPr lang="en-IN" sz="1600" dirty="0" err="1"/>
              <a:t>arXiv</a:t>
            </a:r>
            <a:r>
              <a:rPr lang="en-IN" sz="1600" dirty="0"/>
              <a:t> preprint arXiv:2412.12324, 2024.</a:t>
            </a:r>
          </a:p>
          <a:p>
            <a:r>
              <a:rPr lang="en-IN" sz="1600" dirty="0"/>
              <a:t>[11] A. F. Baig and S. Eskeland, “Security, privacy, and usability in continuous authentication: A survey,” Sensors, vol. 21, no. 17, 2021.</a:t>
            </a:r>
          </a:p>
          <a:p>
            <a:r>
              <a:rPr lang="en-IN" sz="1600" dirty="0"/>
              <a:t>[12] M. Frank, R. </a:t>
            </a:r>
            <a:r>
              <a:rPr lang="en-IN" sz="1600" dirty="0" err="1"/>
              <a:t>Biedert</a:t>
            </a:r>
            <a:r>
              <a:rPr lang="en-IN" sz="1600" dirty="0"/>
              <a:t>, E. Ma, I. Martinovic, and D. Song, “</a:t>
            </a:r>
            <a:r>
              <a:rPr lang="en-IN" sz="1600" dirty="0" err="1"/>
              <a:t>Touchalytics</a:t>
            </a:r>
            <a:r>
              <a:rPr lang="en-IN" sz="1600" dirty="0"/>
              <a:t>: On the applicability of touchscreen input as a </a:t>
            </a:r>
            <a:r>
              <a:rPr lang="en-IN" sz="1600" dirty="0" err="1"/>
              <a:t>behavioral</a:t>
            </a:r>
            <a:r>
              <a:rPr lang="en-IN" sz="1600" dirty="0"/>
              <a:t> biometric,” IEEE Trans. Inf. Forensics Security, vol. 8, no. 1, 2013.</a:t>
            </a:r>
          </a:p>
          <a:p>
            <a:r>
              <a:rPr lang="en-IN" sz="1600" dirty="0"/>
              <a:t>[13] J. </a:t>
            </a:r>
            <a:r>
              <a:rPr lang="en-IN" sz="1600" dirty="0" err="1"/>
              <a:t>Kindervag</a:t>
            </a:r>
            <a:r>
              <a:rPr lang="en-IN" sz="1600" dirty="0"/>
              <a:t>, “Build security into your network’s DNA: The zero trust network architecture,” Forrester Research, 2010.</a:t>
            </a:r>
          </a:p>
          <a:p>
            <a:r>
              <a:rPr lang="en-IN" sz="1600" dirty="0"/>
              <a:t>[14] Y. Wang et al., “AU-ZTAC: Attribute and user trust score-based zero trust access control in </a:t>
            </a:r>
            <a:r>
              <a:rPr lang="en-IN" sz="1600" dirty="0" err="1"/>
              <a:t>IoV</a:t>
            </a:r>
            <a:r>
              <a:rPr lang="en-IN" sz="1600" dirty="0"/>
              <a:t>,” Electronics, vol. 12, no. 23, 2023.</a:t>
            </a:r>
          </a:p>
          <a:p>
            <a:r>
              <a:rPr lang="en-IN" sz="1600" dirty="0"/>
              <a:t>[15] Google, “</a:t>
            </a:r>
            <a:r>
              <a:rPr lang="en-IN" sz="1600" dirty="0" err="1"/>
              <a:t>BeyondCorp</a:t>
            </a:r>
            <a:r>
              <a:rPr lang="en-IN" sz="1600" dirty="0"/>
              <a:t>: A new approach to enterprise security,” Google Whitepaper, 2014.</a:t>
            </a:r>
          </a:p>
          <a:p>
            <a:r>
              <a:rPr lang="en-IN" sz="1600" dirty="0"/>
              <a:t>[16] X. Hu et al., “N-Accesses: A blockchain-based access control framework for IoT,” Sensors, vol. 23, no. 20, 2023.</a:t>
            </a:r>
          </a:p>
          <a:p>
            <a:r>
              <a:rPr lang="en-IN" sz="1600" dirty="0"/>
              <a:t>[17] R. Patel, S. Mehta, and A. Verma, “Context-aware security decision making using large language models,” in Proc. IEEE Int. Conf. Artificial Intelligence Security, 2023.</a:t>
            </a:r>
          </a:p>
          <a:p>
            <a:r>
              <a:rPr lang="en-IN" sz="1600" dirty="0"/>
              <a:t>[18] H. Tawfik et al., “</a:t>
            </a:r>
            <a:r>
              <a:rPr lang="en-IN" sz="1600" dirty="0" err="1"/>
              <a:t>ACHealthChain</a:t>
            </a:r>
            <a:r>
              <a:rPr lang="en-IN" sz="1600" dirty="0"/>
              <a:t>: A blockchain-based access control framework for healthcare data,” Scientific Reports, vol. 15, 2025.</a:t>
            </a:r>
          </a:p>
          <a:p>
            <a:r>
              <a:rPr lang="en-IN" sz="1600" dirty="0"/>
              <a:t>[19] S. N. Zisad, “LLMAC: A global and explainable access control framework with LLM,” </a:t>
            </a:r>
            <a:r>
              <a:rPr lang="en-IN" sz="1600" dirty="0" err="1"/>
              <a:t>arXiv</a:t>
            </a:r>
            <a:r>
              <a:rPr lang="en-IN" sz="1600" dirty="0"/>
              <a:t> preprint arXiv:2602.09392, 2026.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5A7F0-93CD-C453-6596-5AF9E9FD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870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6211</TotalTime>
  <Words>1704</Words>
  <Application>Microsoft Office PowerPoint</Application>
  <PresentationFormat>Widescreen</PresentationFormat>
  <Paragraphs>191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Casper</vt:lpstr>
      <vt:lpstr>Times New Roman</vt:lpstr>
      <vt:lpstr>Wingdings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Core Concept</vt:lpstr>
      <vt:lpstr>Why This Approach</vt:lpstr>
      <vt:lpstr>Existing Problems</vt:lpstr>
      <vt:lpstr>Problem Statement</vt:lpstr>
      <vt:lpstr>Objectives of the Work</vt:lpstr>
      <vt:lpstr>System Overview</vt:lpstr>
      <vt:lpstr>Key Components</vt:lpstr>
      <vt:lpstr>Authentication Workflow</vt:lpstr>
      <vt:lpstr>Risk Assessment Parameters</vt:lpstr>
      <vt:lpstr>Authorization Workflow</vt:lpstr>
      <vt:lpstr>Blockchain Integration</vt:lpstr>
      <vt:lpstr>Expected Results</vt:lpstr>
      <vt:lpstr>System Output</vt:lpstr>
      <vt:lpstr>Advantages</vt:lpstr>
      <vt:lpstr>Conclusion</vt:lpstr>
      <vt:lpstr>Future Scope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PARTH KANSAL</cp:lastModifiedBy>
  <cp:revision>499</cp:revision>
  <dcterms:created xsi:type="dcterms:W3CDTF">2019-01-09T10:33:58Z</dcterms:created>
  <dcterms:modified xsi:type="dcterms:W3CDTF">2026-04-30T01:35:26Z</dcterms:modified>
</cp:coreProperties>
</file>